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064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[0:00–0:30 · ~30s] Cumprimente a banca e apresente título, orientador e curso. Anuncie o roteiro: fundamentos, barreiras, protótipo, conclusões. (Duração total prevista: 20:00 min.)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[0:30–1:20 · ~50s] Em 2008 o Bitcoin move a confiança dos intermediários para a criptografia. Em 2015 o Ethereum torna executáveis os contratos de Szabo. Hoje o potencial existe, mas a adoção institucional não acompanhou. Essa distância é o objeto do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[1:20–2:10 · ~50s] Leia a pergunta devagar e destaque as três palavras em laranja: escalabilidade, imutabilidade e segurança. Diga que o protótipo de gestão de TCC é o laboratório que responde à segunda pergunta.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[2:10–3:00 · ~50s] Um objetivo geral, quatro específicos. Percorra i a iv em uma frase cada: conceitos, smart contracts, barreiras, protótipo.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[3:00–3:10 · ~10s] Transição. Mostre a cadeia de blocos: cada bloco guarda o hash do anterior. Fundamentos.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[3:10–4:10 · ~60s] Blockchain é um livro-razão distribuído. Aponte o encadeamento: alterar o bloco n muda seu hash e rompe todos os seguintes. Cite a árvore de Merkle e o consenso distribuído em uma frase 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[4:10–5:00 · ~50s] A origem é a fraude científica: Haber e Stornetta (1991) queriam impedir a retrodatação de registros. Percorra a linha do tempo até o Ethereum em 2015, sem detalhar cada marco.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[5:00–5:50 · ~50s] Compare PoW e PoS pela tabela. Ênfase na última linha: PoW é criticado pela energia; PoS, pela concentração de validadores.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[5:50–6:40 · ~50s] Analogia da máquina de venda automática. Percorra as quatro fases e destaque o deploy: a partir dele o código é imutável. Isso prepara as barreiras.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[6:40–6:50 · ~10s] Transição para a parte central: as barreiras.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[6:50–7:40 · ~50s] Apresente os cinco eixos e avise que cada um tem um slide. Aponte o eixo 05, Governança, como o que o protótipo evidencia.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[7:40–8:20 · ~40s] Três pontos: escalabilidade e latência, energia do PoW, consultas ineficientes. Seja rápido; é o eixo mais conhecido.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[8:20–9:20 · ~60s] Imutabilidade é faca de dois gumes. Cite The DAO (US$ 60 mi, 2016) e os 42,2% de contratos com comportamento anômalo. Feche com a mitigação: o proxy atualiza a lógica, mas reintroduz um ponto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[9:20–10:20 · ~60s] Explique o Problema do Oráculo no fluxo: o contrato só enxerga o mundo real por um intermediário, e a promessa trustless se desfaz. Depois cite o vazio regulatório e a perda da ambiguidade humana.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[10:20–11:00 · ~40s] Quatro barreiras: custo imprevisível do gas, escassez de especialistas, resistência de intermediários, infraestrutura. Conecte o gas ao slide de custos que virá.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[11:00–12:00 · ~60s] Compare Ownable (uma carteira, ponto único de falha) com Multi-Sig 3 de 5, que funciona como banca de professores. Mencione o custo: complexidade e taxas.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[12:00–12:40 · ~40s] Hipótese do autor: o obstáculo comum aos cinco eixos é o medo de experimentar o novo. A maior barreira pode ser cultural e organizacional. Retome na conclusão.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[12:40–12:50 · ~10s] Transição: do referencial para o protótipo.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[12:50–13:50 · ~60s] Duas frentes. Revisão sistemática: bases, recorte 2017–2026, PRISMA. Experimento: Solidity 0.8.28, OpenZeppelin, Hardhat, 4 testes aprovados. Explique a conversão de gas para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[13:50–14:50 · ~60s] Percorra o fluxo: cadastro, submissão do hash, aprovação, NFT. Ressalte que o PDF nunca vai para a rede; só o hash SHA-256.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[14:50–15:50 · ~60s] Mostre apenas as três linhas destacadas: onlyOwner (governança), require(!a.submetido) (rigidez) e _safeMint (certificado verificável). Não leia o código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[15:50–17:00 · ~70s] Fluxo completo por aluno: 301.543 de gas, R$ 0,35 com rede ociosa e R$ 19,41 sob congestionamento moderado, fator ×55. Ponto-chave: o problema é a imprevisibilidade, não o valor unitário.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[17:00–18:00 · ~60s] Três cenários. Oráculo: o hash de um arquivo em branco foi aceito, o que prova integridade, não legitimidade. Governança: chave perdida exige reimplantar e migrar o estado à mão. Por camada: aplicação, consenso e rede.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[18:00–19:00 · ~60s] Responda à pergunta de pesquisa em três conclusões: barreiras concretas, tecnologia que funciona, e a maior barreira é cultural. Feche dizendo que protótipos de baixo risco ajudam na transição de confiança.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[19:00–19:40 · ~40s] Limitações em uma frase cada: rede local, Ownable simples, cotações pontuais. Trabalhos futuros: Sepolia, Multi-Sig ou DAO, proxy, interface dApp, extensão universitária.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[19:40–20:00 · ~20s] Agradeça à banca e ao orientador e abra para perguntas. Tenha à mão os slides 14, 16 e 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291590"/>
            <a:ext cx="506953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DEFESA DE TCC · OUT 2026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13928408" y="952500"/>
            <a:ext cx="3216593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5108" y="1066800"/>
            <a:ext cx="2683193" cy="800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3691890"/>
            <a:ext cx="16482060" cy="255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667"/>
              </a:lnSpc>
              <a:buNone/>
            </a:pPr>
            <a:r>
              <a:rPr lang="en-US" sz="9900" b="1" kern="0" spc="-198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Blockchain e Smart Contracts</a:t>
            </a:r>
            <a:endParaRPr lang="en-US" sz="9900" dirty="0"/>
          </a:p>
        </p:txBody>
      </p:sp>
      <p:sp>
        <p:nvSpPr>
          <p:cNvPr id="6" name="Text 3"/>
          <p:cNvSpPr/>
          <p:nvPr/>
        </p:nvSpPr>
        <p:spPr>
          <a:xfrm>
            <a:off x="1143000" y="6549390"/>
            <a:ext cx="17602200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dirty="0">
                <a:solidFill>
                  <a:srgbClr val="8FA6B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Barreiras à sua adoção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143000" y="8839200"/>
            <a:ext cx="2635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ORIENTANDO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9212580"/>
            <a:ext cx="247221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Arthur Naoto Miura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4491514" y="8839200"/>
            <a:ext cx="491368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ORIENTADOR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491514" y="9212580"/>
            <a:ext cx="4600997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Prof. Me. Claudinei Moreira da Silva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9911001" y="8839200"/>
            <a:ext cx="555883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CURSO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911001" y="9212580"/>
            <a:ext cx="520509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Ciência da Computação · IMESA/FEMA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· CONTEXTO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4716125" cy="1437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Uma tecnologia madura em teoria, ainda contida na prática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3662124"/>
            <a:ext cx="5029200" cy="38100"/>
          </a:xfrm>
          <a:prstGeom prst="rect">
            <a:avLst/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3966924"/>
            <a:ext cx="553212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463"/>
              </a:lnSpc>
              <a:buNone/>
            </a:pPr>
            <a:r>
              <a:rPr lang="en-US" sz="9000" b="1" dirty="0">
                <a:solidFill>
                  <a:srgbClr val="1652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2008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1143000" y="5338525"/>
            <a:ext cx="5180076" cy="1349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728"/>
              </a:lnSpc>
              <a:buNone/>
            </a:pPr>
            <a:r>
              <a:rPr lang="en-US" sz="255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Nakamoto publica o white paper do Bitcoin: a confiança passa dos intermediários para a criptografia.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629400" y="3662124"/>
            <a:ext cx="5029200" cy="38100"/>
          </a:xfrm>
          <a:prstGeom prst="rect">
            <a:avLst/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29400" y="3966924"/>
            <a:ext cx="553212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463"/>
              </a:lnSpc>
              <a:buNone/>
            </a:pPr>
            <a:r>
              <a:rPr lang="en-US" sz="9000" b="1" dirty="0">
                <a:solidFill>
                  <a:srgbClr val="1652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2015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6629400" y="5338525"/>
            <a:ext cx="5180076" cy="1349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728"/>
              </a:lnSpc>
              <a:buNone/>
            </a:pPr>
            <a:r>
              <a:rPr lang="en-US" sz="255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Ethereum torna executável o contrato autoexecutável imaginado por Szabo nos anos 1990.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115800" y="3662124"/>
            <a:ext cx="5029200" cy="381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115800" y="3966924"/>
            <a:ext cx="553212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463"/>
              </a:lnSpc>
              <a:buNone/>
            </a:pPr>
            <a:r>
              <a:rPr lang="en-US" sz="90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2026</a:t>
            </a:r>
            <a:endParaRPr lang="en-US" sz="9000" dirty="0"/>
          </a:p>
        </p:txBody>
      </p:sp>
      <p:sp>
        <p:nvSpPr>
          <p:cNvPr id="12" name="Text 10"/>
          <p:cNvSpPr/>
          <p:nvPr/>
        </p:nvSpPr>
        <p:spPr>
          <a:xfrm>
            <a:off x="12115800" y="5338525"/>
            <a:ext cx="5180076" cy="1349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728"/>
              </a:lnSpc>
              <a:buNone/>
            </a:pPr>
            <a:r>
              <a:rPr lang="en-US" sz="255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potencial permanece; a adoção institucional, não. Este trabalho investiga essa distância.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01371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QUESTÃO DE PESQUISA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3714750"/>
            <a:ext cx="15304770" cy="280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15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 que forma as limitações de </a:t>
            </a:r>
            <a:r>
              <a:rPr lang="en-US" sz="435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escalabilidade</a:t>
            </a:r>
            <a:r>
              <a:rPr lang="en-US" sz="43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r>
              <a:rPr lang="en-US" sz="435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imutabilidade </a:t>
            </a:r>
            <a:r>
              <a:rPr lang="en-US" sz="43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 </a:t>
            </a:r>
            <a:r>
              <a:rPr lang="en-US" sz="435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segurança </a:t>
            </a:r>
            <a:r>
              <a:rPr lang="en-US" sz="43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 arquitetura blockchain criam barreiras aos Smart Contracts em ambientes institucionais?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143000" y="7010400"/>
            <a:ext cx="14668500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48"/>
              </a:lnSpc>
              <a:buNone/>
            </a:pPr>
            <a:r>
              <a:rPr lang="en-US" sz="2550" dirty="0">
                <a:solidFill>
                  <a:srgbClr val="8FA6B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Como modelar um fluxo acadêmico de gestão de TCC evidencia esses desafios na prática?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67056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1.2 · OBJETIVOS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67056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Objetivo geral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2657832"/>
            <a:ext cx="6278880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27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Analisar as barreiras técnicas, de segurança, legais e socioeconômicas à adoção de blockchain e modelar um protótipo para a gestão acadêmica de TCCs.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191500" y="2234565"/>
            <a:ext cx="98488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OBJETIVOS ESPECÍFICOS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91500" y="2760345"/>
            <a:ext cx="8953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91500" y="3061335"/>
            <a:ext cx="64770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05900" y="3061335"/>
            <a:ext cx="8541782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388"/>
              </a:lnSpc>
              <a:buNone/>
            </a:pPr>
            <a:r>
              <a:rPr lang="en-US" sz="27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Descrever o blockchain e os consensos PoW e PoS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8191500" y="3792855"/>
            <a:ext cx="8953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91500" y="4093845"/>
            <a:ext cx="562094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ii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020294" y="4093845"/>
            <a:ext cx="8368447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388"/>
              </a:lnSpc>
              <a:buNone/>
            </a:pPr>
            <a:r>
              <a:rPr lang="en-US" sz="27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Definir smart contracts, seu ciclo de vida e o papel do Ethereum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8191500" y="5271135"/>
            <a:ext cx="8953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48600" y="5572125"/>
            <a:ext cx="990600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iii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05900" y="5572125"/>
            <a:ext cx="8280273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388"/>
              </a:lnSpc>
              <a:buNone/>
            </a:pPr>
            <a:r>
              <a:rPr lang="en-US" sz="27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Investigar as barreiras técnicas, de segurança, regulatórias e socioeconômicas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8191500" y="8227695"/>
            <a:ext cx="8953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91500" y="6749415"/>
            <a:ext cx="8953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91500" y="7050405"/>
            <a:ext cx="487680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iv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8945880" y="7050405"/>
            <a:ext cx="8445093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388"/>
              </a:lnSpc>
              <a:buNone/>
            </a:pPr>
            <a:r>
              <a:rPr lang="en-US" sz="27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Modelar o fluxo de TCC em Solidity e testar governança, oráculo e custos de gas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52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524000"/>
            <a:ext cx="2476500" cy="2434590"/>
          </a:xfrm>
          <a:prstGeom prst="roundRect">
            <a:avLst>
              <a:gd name="adj" fmla="val 5477"/>
            </a:avLst>
          </a:prstGeom>
          <a:solidFill>
            <a:srgbClr val="0D2440"/>
          </a:solidFill>
          <a:ln/>
          <a:effectLst>
            <a:outerShdw blurRad="101600" dist="1143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" y="1524000"/>
            <a:ext cx="2476500" cy="54864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52550" y="1638300"/>
            <a:ext cx="11163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D24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BLOCO 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273743" y="1638300"/>
            <a:ext cx="2124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D24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■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52550" y="228219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anterior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52550" y="262509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0x0000…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52550" y="306324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hash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52550" y="340614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0x8f2a…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19500" y="2703195"/>
            <a:ext cx="309563" cy="762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910013" y="2579370"/>
            <a:ext cx="323850" cy="323850"/>
          </a:xfrm>
          <a:prstGeom prst="ellipse">
            <a:avLst/>
          </a:prstGeom>
          <a:ln w="76200">
            <a:solidFill>
              <a:srgbClr val="EF7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14813" y="2703195"/>
            <a:ext cx="309563" cy="762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24375" y="1524000"/>
            <a:ext cx="2476500" cy="2434590"/>
          </a:xfrm>
          <a:prstGeom prst="roundRect">
            <a:avLst>
              <a:gd name="adj" fmla="val 5477"/>
            </a:avLst>
          </a:prstGeom>
          <a:solidFill>
            <a:srgbClr val="0D2440"/>
          </a:solidFill>
          <a:ln/>
          <a:effectLst>
            <a:outerShdw blurRad="101600" dist="1143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24375" y="1524000"/>
            <a:ext cx="2476500" cy="54864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33925" y="1638300"/>
            <a:ext cx="11163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D24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BLOCO 2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655118" y="1638300"/>
            <a:ext cx="2124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D24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■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4733925" y="228219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anterior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33925" y="262509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0x8f2a…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33925" y="306324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hash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33925" y="340614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0xc41d…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000875" y="2703195"/>
            <a:ext cx="309563" cy="762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291388" y="2579370"/>
            <a:ext cx="323850" cy="323850"/>
          </a:xfrm>
          <a:prstGeom prst="ellipse">
            <a:avLst/>
          </a:prstGeom>
          <a:ln w="76200">
            <a:solidFill>
              <a:srgbClr val="EF7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96187" y="2703195"/>
            <a:ext cx="309563" cy="762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905750" y="1524000"/>
            <a:ext cx="2476500" cy="2434590"/>
          </a:xfrm>
          <a:prstGeom prst="roundRect">
            <a:avLst>
              <a:gd name="adj" fmla="val 5477"/>
            </a:avLst>
          </a:prstGeom>
          <a:solidFill>
            <a:srgbClr val="0D2440"/>
          </a:solidFill>
          <a:ln/>
          <a:effectLst>
            <a:outerShdw blurRad="101600" dist="1143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05750" y="1524000"/>
            <a:ext cx="2476500" cy="54864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115300" y="1638300"/>
            <a:ext cx="11163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D24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BLOCO 3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0036493" y="1638300"/>
            <a:ext cx="2124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D24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■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8115300" y="228219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anterior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115300" y="262509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0xc41d…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115300" y="306324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hash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115300" y="340614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0x19be…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382250" y="2703195"/>
            <a:ext cx="309563" cy="762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672763" y="2579370"/>
            <a:ext cx="323850" cy="323850"/>
          </a:xfrm>
          <a:prstGeom prst="ellipse">
            <a:avLst/>
          </a:prstGeom>
          <a:ln w="76200">
            <a:solidFill>
              <a:srgbClr val="EF7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977563" y="2703195"/>
            <a:ext cx="309563" cy="762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1287125" y="1524000"/>
            <a:ext cx="2476500" cy="2434590"/>
          </a:xfrm>
          <a:prstGeom prst="roundRect">
            <a:avLst>
              <a:gd name="adj" fmla="val 5477"/>
            </a:avLst>
          </a:prstGeom>
          <a:solidFill>
            <a:srgbClr val="0D2440"/>
          </a:solidFill>
          <a:ln/>
          <a:effectLst>
            <a:outerShdw blurRad="101600" dist="1143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1287125" y="1524000"/>
            <a:ext cx="2476500" cy="54864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1496675" y="1638300"/>
            <a:ext cx="11163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D24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BLOCO 4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3417868" y="1638300"/>
            <a:ext cx="2124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D24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■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1496675" y="228219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anterior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496675" y="262509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0x19be…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1496675" y="306324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hash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496675" y="340614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0x5d73…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3763625" y="2703195"/>
            <a:ext cx="309563" cy="762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4054138" y="2579370"/>
            <a:ext cx="323850" cy="323850"/>
          </a:xfrm>
          <a:prstGeom prst="ellipse">
            <a:avLst/>
          </a:prstGeom>
          <a:ln w="76200">
            <a:solidFill>
              <a:srgbClr val="EF7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4358938" y="2703195"/>
            <a:ext cx="309563" cy="762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4668500" y="1524000"/>
            <a:ext cx="2476500" cy="2434590"/>
          </a:xfrm>
          <a:prstGeom prst="roundRect">
            <a:avLst>
              <a:gd name="adj" fmla="val 5477"/>
            </a:avLst>
          </a:prstGeom>
          <a:solidFill>
            <a:srgbClr val="0D2440">
              <a:alpha val="55000"/>
            </a:srgbClr>
          </a:solidFill>
          <a:ln/>
          <a:effectLst>
            <a:outerShdw blurRad="101600" dist="114300" dir="5400000" algn="bl" rotWithShape="0">
              <a:srgbClr val="000000">
                <a:alpha val="99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4668500" y="1524000"/>
            <a:ext cx="2476500" cy="548640"/>
          </a:xfrm>
          <a:prstGeom prst="rect">
            <a:avLst/>
          </a:prstGeom>
          <a:solidFill>
            <a:srgbClr val="EF7F1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4878050" y="1638300"/>
            <a:ext cx="11163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D2440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BLOCO 5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16799243" y="1638300"/>
            <a:ext cx="2124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D2440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■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4878050" y="228219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8FA6B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anterior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4878050" y="262509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0x5d73…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4878050" y="306324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8FA6B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hash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4878050" y="3406140"/>
            <a:ext cx="22631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85"/>
              </a:lnSpc>
              <a:buNone/>
            </a:pPr>
            <a:r>
              <a:rPr lang="en-US" sz="1800" dirty="0">
                <a:solidFill>
                  <a:srgbClr val="EF7F1F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0xa07c…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143000" y="7543800"/>
            <a:ext cx="3405187" cy="2019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654"/>
              </a:lnSpc>
              <a:buNone/>
            </a:pPr>
            <a:r>
              <a:rPr lang="en-US" sz="195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19500" dirty="0"/>
          </a:p>
        </p:txBody>
      </p:sp>
      <p:sp>
        <p:nvSpPr>
          <p:cNvPr id="55" name="Text 53"/>
          <p:cNvSpPr/>
          <p:nvPr/>
        </p:nvSpPr>
        <p:spPr>
          <a:xfrm>
            <a:off x="4848225" y="7867650"/>
            <a:ext cx="8474333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667"/>
              </a:lnSpc>
              <a:buNone/>
            </a:pPr>
            <a:r>
              <a:rPr lang="en-US" sz="82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Fundamentos</a:t>
            </a:r>
            <a:endParaRPr lang="en-US" sz="8250" dirty="0"/>
          </a:p>
        </p:txBody>
      </p:sp>
      <p:sp>
        <p:nvSpPr>
          <p:cNvPr id="56" name="Text 54"/>
          <p:cNvSpPr/>
          <p:nvPr/>
        </p:nvSpPr>
        <p:spPr>
          <a:xfrm>
            <a:off x="4848225" y="9105900"/>
            <a:ext cx="847433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DCE6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Blockchain, consenso e contratos inteligentes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· CONCEITO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Um livro-razão distribuído e encadeado por hash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2810232"/>
            <a:ext cx="4572000" cy="1958340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15240">
            <a:solidFill>
              <a:srgbClr val="DCD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01140" y="3168372"/>
            <a:ext cx="424129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BLOCO n−1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1140" y="3579852"/>
            <a:ext cx="4241292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652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0x8f2a…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501140" y="4120872"/>
            <a:ext cx="4241292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transações + timestamp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019800" y="3484602"/>
            <a:ext cx="6096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6858000" y="2810232"/>
            <a:ext cx="4572000" cy="1958340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15240">
            <a:solidFill>
              <a:srgbClr val="DCD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16140" y="3168372"/>
            <a:ext cx="424129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BLOCO 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216140" y="3579852"/>
            <a:ext cx="4241292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652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0xc41d…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7216140" y="4120872"/>
            <a:ext cx="4241292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contém o hash anterior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734800" y="3484602"/>
            <a:ext cx="6096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12573000" y="2810232"/>
            <a:ext cx="4572000" cy="1958340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15240">
            <a:solidFill>
              <a:srgbClr val="EF7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931140" y="3168372"/>
            <a:ext cx="424129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BLOCO n+1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931140" y="3579852"/>
            <a:ext cx="4241292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652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0x19be…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2931140" y="4120872"/>
            <a:ext cx="4241292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alterar n rompe a cadeia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43000" y="8317230"/>
            <a:ext cx="5532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Encadeamento por hash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143000" y="8804910"/>
            <a:ext cx="518007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Retroagir exige refazer todos os blocos posteriores.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629400" y="8317230"/>
            <a:ext cx="5532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Árvore de Merkle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6629400" y="8804910"/>
            <a:ext cx="518007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hash raiz sintetiza a integridade das transações.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115800" y="8317230"/>
            <a:ext cx="5532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Consenso distribuído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2115800" y="8804910"/>
            <a:ext cx="518007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Nós independentes decidem o estado válido.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· ORIGEM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4716125" cy="1437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tecnologia nasceu de um problema de fraude científica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3128724"/>
            <a:ext cx="137350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Haber e Stornetta queriam impedir a retrodatação de registros de laboratório, 17 anos antes do Bitcoin.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6793230"/>
            <a:ext cx="16002000" cy="38100"/>
          </a:xfrm>
          <a:prstGeom prst="rect">
            <a:avLst/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7250430"/>
            <a:ext cx="3252216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652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1991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143000" y="8027670"/>
            <a:ext cx="3045257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Carimbo de tempo criptográfico encadeado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404360" y="7250430"/>
            <a:ext cx="3252216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652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1992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404360" y="8027670"/>
            <a:ext cx="3045257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Árvores de Merkle agrupam documentos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665720" y="7250430"/>
            <a:ext cx="3252216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652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2008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665720" y="8027670"/>
            <a:ext cx="3045257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White paper de Nakamoto: PoW e P2P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927081" y="7250430"/>
            <a:ext cx="3252216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652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2009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10927081" y="8027670"/>
            <a:ext cx="3045257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Bloco gênese; início da rede Bitcoin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4188440" y="7250430"/>
            <a:ext cx="3252216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2015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4188440" y="8027670"/>
            <a:ext cx="3045257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Ethereum: a EVM executa código arbitrário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43000" y="9281160"/>
            <a:ext cx="176022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Fonte: Haber e Stornetta (1991); Nakamoto (2008); Tripathi, Ahad e Casalino (2023).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2.2 · CONSENSO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Dois mecanismos, dois conjuntos de trade-offs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2810232"/>
            <a:ext cx="16002000" cy="15240"/>
          </a:xfrm>
          <a:prstGeom prst="rect">
            <a:avLst/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0" y="2825472"/>
            <a:ext cx="6286500" cy="1432560"/>
          </a:xfrm>
          <a:prstGeom prst="rect">
            <a:avLst/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76800" y="3092172"/>
            <a:ext cx="6244590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67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Proof-of-Work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4876800" y="3694152"/>
            <a:ext cx="62445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BITCOIN, 2009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858500" y="2825472"/>
            <a:ext cx="6286500" cy="1432560"/>
          </a:xfrm>
          <a:prstGeom prst="rect">
            <a:avLst/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163300" y="3092172"/>
            <a:ext cx="6244590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67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Proof-of-Stake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1163300" y="3694152"/>
            <a:ext cx="62445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D2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ETHEREUM, 2022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5225772"/>
            <a:ext cx="3429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4543782"/>
            <a:ext cx="353187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CRITÉRIO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0" y="5225772"/>
            <a:ext cx="6286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76800" y="4543782"/>
            <a:ext cx="586549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30"/>
              </a:lnSpc>
              <a:buNone/>
            </a:pPr>
            <a:r>
              <a:rPr lang="en-US" sz="24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Poder computacional gasto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0858500" y="5225772"/>
            <a:ext cx="6286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163300" y="4543782"/>
            <a:ext cx="586549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30"/>
              </a:lnSpc>
              <a:buNone/>
            </a:pPr>
            <a:r>
              <a:rPr lang="en-US" sz="24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Ativos bloqueados (stake)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143000" y="6208752"/>
            <a:ext cx="3429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43000" y="5526762"/>
            <a:ext cx="353187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ENERGIA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0" y="6208752"/>
            <a:ext cx="6286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76800" y="5526762"/>
            <a:ext cx="586549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30"/>
              </a:lnSpc>
              <a:buNone/>
            </a:pPr>
            <a:r>
              <a:rPr lang="en-US" sz="24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Comparável ao de países inteiros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858500" y="6208752"/>
            <a:ext cx="6286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163300" y="5526762"/>
            <a:ext cx="586549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30"/>
              </a:lnSpc>
              <a:buNone/>
            </a:pPr>
            <a:r>
              <a:rPr lang="en-US" sz="24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Ordens de magnitude menor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143000" y="7191732"/>
            <a:ext cx="3429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43000" y="6509742"/>
            <a:ext cx="353187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GARANTIA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2000" y="7191732"/>
            <a:ext cx="6286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76800" y="6509742"/>
            <a:ext cx="586549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30"/>
              </a:lnSpc>
              <a:buNone/>
            </a:pPr>
            <a:r>
              <a:rPr lang="en-US" sz="24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Inviável refazer o trabalho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0858500" y="7191732"/>
            <a:ext cx="6286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163300" y="6509742"/>
            <a:ext cx="586549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30"/>
              </a:lnSpc>
              <a:buNone/>
            </a:pPr>
            <a:r>
              <a:rPr lang="en-US" sz="24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Slashing do validador desonesto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143000" y="8174712"/>
            <a:ext cx="3429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43000" y="7492722"/>
            <a:ext cx="353187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CRÍTICA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572000" y="8174712"/>
            <a:ext cx="6286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76800" y="7492722"/>
            <a:ext cx="586549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30"/>
              </a:lnSpc>
              <a:buNone/>
            </a:pPr>
            <a:r>
              <a:rPr lang="en-US" sz="24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Sustentabilidade ambiental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10858500" y="8174712"/>
            <a:ext cx="6286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163300" y="7492722"/>
            <a:ext cx="586549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30"/>
              </a:lnSpc>
              <a:buNone/>
            </a:pPr>
            <a:r>
              <a:rPr lang="en-US" sz="24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Concentração de validadores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· SMART CONTRACTS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acordo escrito nas linhas do código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2505432"/>
            <a:ext cx="14716125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48"/>
              </a:lnSpc>
              <a:buNone/>
            </a:pPr>
            <a:r>
              <a:rPr lang="en-US" sz="255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Termos embutidos no código; execução sem intermediários nem sistema de justiça. Como uma máquina de venda automática: não se confia no vendedor, a máquina cumpre.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7101840"/>
            <a:ext cx="3771900" cy="2423160"/>
          </a:xfrm>
          <a:prstGeom prst="roundRect">
            <a:avLst>
              <a:gd name="adj" fmla="val 4717"/>
            </a:avLst>
          </a:prstGeom>
          <a:solidFill>
            <a:srgbClr val="162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85900" y="7444740"/>
            <a:ext cx="339471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85900" y="7928610"/>
            <a:ext cx="33947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Criação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85900" y="8462010"/>
            <a:ext cx="3178683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Negociação e codificação dos termos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219700" y="7101840"/>
            <a:ext cx="3771900" cy="2423160"/>
          </a:xfrm>
          <a:prstGeom prst="roundRect">
            <a:avLst>
              <a:gd name="adj" fmla="val 4717"/>
            </a:avLst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62600" y="7444740"/>
            <a:ext cx="339471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D24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562600" y="7928610"/>
            <a:ext cx="33947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244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Deploy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562600" y="8462010"/>
            <a:ext cx="3178683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0D244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partir daqui o código é imutável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296400" y="7101840"/>
            <a:ext cx="3771900" cy="2423160"/>
          </a:xfrm>
          <a:prstGeom prst="roundRect">
            <a:avLst>
              <a:gd name="adj" fmla="val 4717"/>
            </a:avLst>
          </a:prstGeom>
          <a:solidFill>
            <a:srgbClr val="162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39300" y="7444740"/>
            <a:ext cx="339471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639300" y="7928610"/>
            <a:ext cx="33947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Execução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639300" y="8462010"/>
            <a:ext cx="3178683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Disparo automático ao cumprir as condições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3373100" y="7101840"/>
            <a:ext cx="3771900" cy="2423160"/>
          </a:xfrm>
          <a:prstGeom prst="roundRect">
            <a:avLst>
              <a:gd name="adj" fmla="val 4717"/>
            </a:avLst>
          </a:prstGeom>
          <a:solidFill>
            <a:srgbClr val="162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716000" y="7444740"/>
            <a:ext cx="339471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716000" y="7928610"/>
            <a:ext cx="33947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Finalização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3716000" y="8462010"/>
            <a:ext cx="3178683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Liquidação e atualização do estado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52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972050"/>
            <a:ext cx="17602200" cy="2609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721"/>
              </a:lnSpc>
              <a:buNone/>
            </a:pPr>
            <a:r>
              <a:rPr lang="en-US" sz="225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1143000" y="7734300"/>
            <a:ext cx="17602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As barreiras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1143000" y="9105900"/>
            <a:ext cx="17602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DCE6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Cinco eixos sistematizados a partir da literatura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88011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 · SISTEMATIZAÇÃO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8241030" cy="1437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Cinco eixos de barreiras à adoção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3357324"/>
            <a:ext cx="8001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3759160"/>
            <a:ext cx="6477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019300" y="3772019"/>
            <a:ext cx="5699891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48"/>
              </a:lnSpc>
              <a:buNone/>
            </a:pPr>
            <a:r>
              <a:rPr lang="en-US" sz="28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Técnicas e de escalabilidade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143000" y="4587716"/>
            <a:ext cx="8001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4989552"/>
            <a:ext cx="6477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019300" y="5002411"/>
            <a:ext cx="5294150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48"/>
              </a:lnSpc>
              <a:buNone/>
            </a:pPr>
            <a:r>
              <a:rPr lang="en-US" sz="28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Segurança e imutabilidade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143000" y="5818227"/>
            <a:ext cx="8001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6220063"/>
            <a:ext cx="6477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019300" y="6232922"/>
            <a:ext cx="4158651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48"/>
              </a:lnSpc>
              <a:buNone/>
            </a:pPr>
            <a:r>
              <a:rPr lang="en-US" sz="28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Legais e regulatórias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1143000" y="7048738"/>
            <a:ext cx="8001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" y="7450574"/>
            <a:ext cx="6477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019300" y="7463433"/>
            <a:ext cx="7323904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48"/>
              </a:lnSpc>
              <a:buNone/>
            </a:pPr>
            <a:r>
              <a:rPr lang="en-US" sz="28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Socioeconômicas e de infraestrutura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1143000" y="9509760"/>
            <a:ext cx="8001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3000" y="8279249"/>
            <a:ext cx="8001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43000" y="8681085"/>
            <a:ext cx="6477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2019300" y="8693944"/>
            <a:ext cx="2449509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48"/>
              </a:lnSpc>
              <a:buNone/>
            </a:pPr>
            <a:r>
              <a:rPr lang="en-US" sz="28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Governança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10763250" y="2476500"/>
            <a:ext cx="5570220" cy="5570220"/>
          </a:xfrm>
          <a:prstGeom prst="ellipse">
            <a:avLst/>
          </a:prstGeom>
          <a:ln w="22860">
            <a:solidFill>
              <a:srgbClr val="B9C4D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2382500" y="4095750"/>
            <a:ext cx="2286000" cy="2286000"/>
          </a:xfrm>
          <a:prstGeom prst="ellipse">
            <a:avLst/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636937" y="4819650"/>
            <a:ext cx="1853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Barreiras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2658249" y="5238750"/>
            <a:ext cx="18105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à adoção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12520137" y="2156460"/>
            <a:ext cx="2010728" cy="640080"/>
          </a:xfrm>
          <a:prstGeom prst="roundRect">
            <a:avLst>
              <a:gd name="adj" fmla="val 50000"/>
            </a:avLst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767787" y="2327910"/>
            <a:ext cx="1591628" cy="3352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</a:t>
            </a:r>
            <a:r>
              <a:rPr lang="en-US" sz="2100" b="1" dirty="0">
                <a:solidFill>
                  <a:srgbClr val="FFFFFF"/>
                </a:solidFill>
                <a:highlight>
                  <a:srgbClr val="16528F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Técnicas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5031700" y="4061460"/>
            <a:ext cx="2245400" cy="640080"/>
          </a:xfrm>
          <a:prstGeom prst="roundRect">
            <a:avLst>
              <a:gd name="adj" fmla="val 50000"/>
            </a:avLst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5279350" y="4232910"/>
            <a:ext cx="1826300" cy="3352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</a:t>
            </a:r>
            <a:r>
              <a:rPr lang="en-US" sz="2100" b="1" dirty="0">
                <a:solidFill>
                  <a:srgbClr val="FFFFFF"/>
                </a:solidFill>
                <a:highlight>
                  <a:srgbClr val="16528F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Segurança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4287559" y="7157085"/>
            <a:ext cx="1714381" cy="640080"/>
          </a:xfrm>
          <a:prstGeom prst="roundRect">
            <a:avLst>
              <a:gd name="adj" fmla="val 50000"/>
            </a:avLst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4535209" y="7328535"/>
            <a:ext cx="1295281" cy="3352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</a:t>
            </a:r>
            <a:r>
              <a:rPr lang="en-US" sz="2100" b="1" dirty="0">
                <a:solidFill>
                  <a:srgbClr val="FFFFFF"/>
                </a:solidFill>
                <a:highlight>
                  <a:srgbClr val="16528F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Legais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0327363" y="7157085"/>
            <a:ext cx="3157776" cy="640080"/>
          </a:xfrm>
          <a:prstGeom prst="roundRect">
            <a:avLst>
              <a:gd name="adj" fmla="val 50000"/>
            </a:avLst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575013" y="7328535"/>
            <a:ext cx="2757209" cy="3352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</a:t>
            </a:r>
            <a:r>
              <a:rPr lang="en-US" sz="2100" b="1" dirty="0">
                <a:solidFill>
                  <a:srgbClr val="FFFFFF"/>
                </a:solidFill>
                <a:highlight>
                  <a:srgbClr val="16528F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Socioeconômicas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9682282" y="4061460"/>
            <a:ext cx="2428637" cy="640080"/>
          </a:xfrm>
          <a:prstGeom prst="roundRect">
            <a:avLst>
              <a:gd name="adj" fmla="val 50000"/>
            </a:avLst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929932" y="4232910"/>
            <a:ext cx="2009537" cy="3352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024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</a:t>
            </a:r>
            <a:r>
              <a:rPr lang="en-US" sz="2100" b="1" dirty="0">
                <a:solidFill>
                  <a:srgbClr val="10243A"/>
                </a:solidFill>
                <a:highlight>
                  <a:srgbClr val="EF7F1F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Governança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EIXO 01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Técnicas e de escalabilidade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2353032"/>
            <a:ext cx="176022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TRIPATHI; AHAD; CASALINO (2023) · YAGA et al. (2018)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43000" y="6865620"/>
            <a:ext cx="5029200" cy="38100"/>
          </a:xfrm>
          <a:prstGeom prst="rect">
            <a:avLst/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7170420"/>
            <a:ext cx="5180076" cy="1002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17"/>
              </a:lnSpc>
              <a:buNone/>
            </a:pPr>
            <a:r>
              <a:rPr lang="en-US" sz="33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Baixa escalabilidade e latência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143000" y="8324850"/>
            <a:ext cx="518007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Mineração e tamanho da rede limitam o throughput.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629400" y="6865620"/>
            <a:ext cx="5029200" cy="38100"/>
          </a:xfrm>
          <a:prstGeom prst="rect">
            <a:avLst/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29400" y="7170420"/>
            <a:ext cx="5180076" cy="1002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17"/>
              </a:lnSpc>
              <a:buNone/>
            </a:pPr>
            <a:r>
              <a:rPr lang="en-US" sz="33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Alto consumo de energia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629400" y="8324850"/>
            <a:ext cx="5180076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PoW exige poder massivo, incompatível com metas de sustentabilidade.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2115800" y="6865620"/>
            <a:ext cx="5029200" cy="38100"/>
          </a:xfrm>
          <a:prstGeom prst="rect">
            <a:avLst/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115800" y="7170420"/>
            <a:ext cx="5532120" cy="520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17"/>
              </a:lnSpc>
              <a:buNone/>
            </a:pPr>
            <a:r>
              <a:rPr lang="en-US" sz="33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Consultas ineficientes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2115800" y="7842885"/>
            <a:ext cx="518007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Sem tabelas relacionais, o histórico exige varrer bloco por bloco.</a:t>
            </a:r>
            <a:endParaRPr lang="en-US" sz="2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EIXO 02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Segurança e imutabilidade: a faca de dois gumes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2429232"/>
            <a:ext cx="17602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Depois do deploy, uma vulnerabilidade descoberta é permanente.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3000" y="5604510"/>
            <a:ext cx="846582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912"/>
              </a:lnSpc>
              <a:buNone/>
            </a:pPr>
            <a:r>
              <a:rPr lang="en-US" sz="1125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US$ 60 mi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1143000" y="7185660"/>
            <a:ext cx="792708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roubados no ataque de reentrância ao The DAO, em 2016 (SIFRA, 2022).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448800" y="5604510"/>
            <a:ext cx="2667000" cy="2667000"/>
          </a:xfrm>
          <a:prstGeom prst="ellipse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877425" y="6033135"/>
            <a:ext cx="1809750" cy="1809750"/>
          </a:xfrm>
          <a:prstGeom prst="ellipse">
            <a:avLst/>
          </a:prstGeom>
          <a:solidFill>
            <a:srgbClr val="0D2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839325" y="6033135"/>
            <a:ext cx="1885950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42,2%</a:t>
            </a:r>
            <a:endParaRPr lang="en-US" sz="4050" dirty="0"/>
          </a:p>
        </p:txBody>
      </p:sp>
      <p:sp>
        <p:nvSpPr>
          <p:cNvPr id="10" name="Text 8"/>
          <p:cNvSpPr/>
          <p:nvPr/>
        </p:nvSpPr>
        <p:spPr>
          <a:xfrm>
            <a:off x="12496800" y="6137910"/>
            <a:ext cx="4787646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dos contratos de uma amostra massiva tinham comportamentos anômalos (YANAI; NISHIDA; UNAGAMI, 2025).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143000" y="8804910"/>
            <a:ext cx="16002000" cy="15240"/>
          </a:xfrm>
          <a:prstGeom prst="rect">
            <a:avLst/>
          </a:prstGeom>
          <a:solidFill>
            <a:srgbClr val="2B43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9124950"/>
            <a:ext cx="164820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18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MITIGAÇÃO </a:t>
            </a:r>
            <a:r>
              <a:rPr lang="en-US" sz="22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Proxy ERC-1967 atualiza a lógica, mas reintroduz um ponto central de controle.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EIXO 03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Legais e regulatórias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2657832"/>
            <a:ext cx="176022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PROBLEMA DO ORÁCULO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43000" y="3229332"/>
            <a:ext cx="4592241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CD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01140" y="3549372"/>
            <a:ext cx="426355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Fato do mundo real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01140" y="4063722"/>
            <a:ext cx="426355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0243A">
                    <a:alpha val="8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ex.: o TCC foi entregue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001941" y="3593187"/>
            <a:ext cx="6858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6878241" y="3107412"/>
            <a:ext cx="4561880" cy="1672590"/>
          </a:xfrm>
          <a:prstGeom prst="roundRect">
            <a:avLst>
              <a:gd name="adj" fmla="val 6834"/>
            </a:avLst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21141" y="3412212"/>
            <a:ext cx="426368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Oráculo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221141" y="3926562"/>
            <a:ext cx="3992362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0243A">
                    <a:alpha val="8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intermediário externo: o ponto de confiança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706820" y="3593187"/>
            <a:ext cx="6858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12583120" y="3244572"/>
            <a:ext cx="4561880" cy="1398270"/>
          </a:xfrm>
          <a:prstGeom prst="roundRect">
            <a:avLst>
              <a:gd name="adj" fmla="val 8174"/>
            </a:avLst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926020" y="3549372"/>
            <a:ext cx="426368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Smart contract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2926020" y="4063722"/>
            <a:ext cx="426368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executa sem questionar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3000" y="7227570"/>
            <a:ext cx="5130761" cy="1786890"/>
          </a:xfrm>
          <a:prstGeom prst="roundRect">
            <a:avLst>
              <a:gd name="adj" fmla="val 639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47800" y="7532370"/>
            <a:ext cx="4973276" cy="43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612"/>
              </a:lnSpc>
              <a:buNone/>
            </a:pPr>
            <a:r>
              <a:rPr lang="en-US" sz="27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Vazio regulatório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447800" y="8041005"/>
            <a:ext cx="4656795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Sem consenso global sobre o peso legal de contratos autoexecutáveis.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6578561" y="7227570"/>
            <a:ext cx="5130761" cy="1786890"/>
          </a:xfrm>
          <a:prstGeom prst="roundRect">
            <a:avLst>
              <a:gd name="adj" fmla="val 639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83361" y="7532370"/>
            <a:ext cx="4973276" cy="43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612"/>
              </a:lnSpc>
              <a:buNone/>
            </a:pPr>
            <a:r>
              <a:rPr lang="en-US" sz="27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Código binário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6883361" y="8041005"/>
            <a:ext cx="4656795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lei admite interpretação; o código ignora o contexto.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2014121" y="7227570"/>
            <a:ext cx="5130761" cy="1786890"/>
          </a:xfrm>
          <a:prstGeom prst="roundRect">
            <a:avLst>
              <a:gd name="adj" fmla="val 639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318921" y="7532370"/>
            <a:ext cx="4973276" cy="43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612"/>
              </a:lnSpc>
              <a:buNone/>
            </a:pPr>
            <a:r>
              <a:rPr lang="en-US" sz="27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Evasão de salvaguardas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2318921" y="8041005"/>
            <a:ext cx="4656795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Fraude ou coerção anulam um contrato tradicional; este executa mesmo assim.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143000" y="9281160"/>
            <a:ext cx="176022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Fonte: Ishmaev (2025); Alharby e Van Moorsel (2017).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EIXO 04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Socioeconômicas e de infraestrutura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2353032"/>
            <a:ext cx="176022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ABUHASHIM; TAN (2020) · SINGH; RANI; KUMAR (2024) · NARAYANAPRAKASH et al. (2023)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43000" y="3183612"/>
            <a:ext cx="3714750" cy="38100"/>
          </a:xfrm>
          <a:prstGeom prst="rect">
            <a:avLst/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3488412"/>
            <a:ext cx="408622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4037052"/>
            <a:ext cx="3826193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45"/>
              </a:lnSpc>
              <a:buNone/>
            </a:pPr>
            <a:r>
              <a:rPr lang="en-US" sz="30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Custos imprevisíveis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43000" y="5103852"/>
            <a:ext cx="3826193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947"/>
              </a:lnSpc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gas varia com o design do contrato e o congestionamento.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238750" y="3183612"/>
            <a:ext cx="3714750" cy="38100"/>
          </a:xfrm>
          <a:prstGeom prst="rect">
            <a:avLst/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38750" y="3488412"/>
            <a:ext cx="408622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238750" y="4037052"/>
            <a:ext cx="3826193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45"/>
              </a:lnSpc>
              <a:buNone/>
            </a:pPr>
            <a:r>
              <a:rPr lang="en-US" sz="30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Escassez de especialistas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238750" y="5103852"/>
            <a:ext cx="3826193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947"/>
              </a:lnSpc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Poucos dominam segurança de contratos, o que afasta organizações.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334500" y="3183612"/>
            <a:ext cx="3714750" cy="38100"/>
          </a:xfrm>
          <a:prstGeom prst="rect">
            <a:avLst/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34500" y="3488412"/>
            <a:ext cx="408622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334500" y="4037052"/>
            <a:ext cx="3826193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45"/>
              </a:lnSpc>
              <a:buNone/>
            </a:pPr>
            <a:r>
              <a:rPr lang="en-US" sz="30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Resistência de intermediários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334500" y="5103852"/>
            <a:ext cx="3826193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947"/>
              </a:lnSpc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Notários e corretores têm na burocracia o próprio trabalho.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3430250" y="3183612"/>
            <a:ext cx="3714750" cy="38100"/>
          </a:xfrm>
          <a:prstGeom prst="rect">
            <a:avLst/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430250" y="3488412"/>
            <a:ext cx="408622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430250" y="4037052"/>
            <a:ext cx="3826193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45"/>
              </a:lnSpc>
              <a:buNone/>
            </a:pPr>
            <a:r>
              <a:rPr lang="en-US" sz="30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Infraestrutura digital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3430250" y="5103852"/>
            <a:ext cx="3826193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947"/>
              </a:lnSpc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Em países em desenvolvimento, rede e dispositivos ainda limitam.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EIXO 05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Governança: a centralização de autoridade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2657832"/>
            <a:ext cx="7810500" cy="3741420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24000" y="3038832"/>
            <a:ext cx="77533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OWNABLE · UMA CHAVE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524000" y="3602712"/>
            <a:ext cx="1428750" cy="1428750"/>
          </a:xfrm>
          <a:prstGeom prst="ellipse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55445" y="4002762"/>
            <a:ext cx="124206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610"/>
              </a:lnSpc>
              <a:buNone/>
            </a:pPr>
            <a:r>
              <a:rPr lang="en-US" sz="22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Carteira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788438" y="4317087"/>
            <a:ext cx="976075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610"/>
              </a:lnSpc>
              <a:buNone/>
            </a:pPr>
            <a:r>
              <a:rPr lang="en-US" sz="22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owner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3219450" y="4012287"/>
            <a:ext cx="6096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4019550" y="3654147"/>
            <a:ext cx="2796540" cy="586740"/>
          </a:xfrm>
          <a:prstGeom prst="roundRect">
            <a:avLst>
              <a:gd name="adj" fmla="val 12987"/>
            </a:avLst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29100" y="3787497"/>
            <a:ext cx="246133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cadastrarAluno()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019550" y="4393287"/>
            <a:ext cx="2796540" cy="586740"/>
          </a:xfrm>
          <a:prstGeom prst="roundRect">
            <a:avLst>
              <a:gd name="adj" fmla="val 12987"/>
            </a:avLst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29100" y="4526637"/>
            <a:ext cx="246133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aprovarTCC()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524000" y="5298162"/>
            <a:ext cx="7259955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Ponto único de falha; chave perdida deixa o contrato inoperante.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334500" y="2657832"/>
            <a:ext cx="7810500" cy="3741420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715500" y="3038832"/>
            <a:ext cx="77533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52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MULTI-SIG · 3 DE 5 SIGNATÁRIOS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715500" y="3821787"/>
            <a:ext cx="990600" cy="990600"/>
          </a:xfrm>
          <a:prstGeom prst="ellipse">
            <a:avLst/>
          </a:prstGeom>
          <a:solidFill>
            <a:srgbClr val="EF7F1F"/>
          </a:solidFill>
          <a:ln w="38100">
            <a:solidFill>
              <a:srgbClr val="EF7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715500" y="3859887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10896600" y="3821787"/>
            <a:ext cx="990600" cy="990600"/>
          </a:xfrm>
          <a:prstGeom prst="ellipse">
            <a:avLst/>
          </a:prstGeom>
          <a:solidFill>
            <a:srgbClr val="EF7F1F"/>
          </a:solidFill>
          <a:ln w="38100">
            <a:solidFill>
              <a:srgbClr val="EF7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896600" y="3859887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12077700" y="3821787"/>
            <a:ext cx="990600" cy="990600"/>
          </a:xfrm>
          <a:prstGeom prst="ellipse">
            <a:avLst/>
          </a:prstGeom>
          <a:solidFill>
            <a:srgbClr val="EF7F1F"/>
          </a:solidFill>
          <a:ln w="38100">
            <a:solidFill>
              <a:srgbClr val="EF7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077700" y="3859887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13258800" y="3821787"/>
            <a:ext cx="990600" cy="990600"/>
          </a:xfrm>
          <a:prstGeom prst="ellipse">
            <a:avLst/>
          </a:prstGeom>
          <a:ln w="38100">
            <a:solidFill>
              <a:srgbClr val="B9C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4439900" y="3821787"/>
            <a:ext cx="990600" cy="990600"/>
          </a:xfrm>
          <a:prstGeom prst="ellipse">
            <a:avLst/>
          </a:prstGeom>
          <a:ln w="38100">
            <a:solidFill>
              <a:srgbClr val="B9C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715500" y="5298162"/>
            <a:ext cx="7259955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Como uma banca de professores. Custo: mais complexidade e mais taxas.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143000" y="8572500"/>
            <a:ext cx="5029200" cy="381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43000" y="8801100"/>
            <a:ext cx="5532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Poder absoluto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1143000" y="9250680"/>
            <a:ext cx="55321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Ninguém audita um administrador de má-fé.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6629400" y="8572500"/>
            <a:ext cx="5029200" cy="381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29400" y="8801100"/>
            <a:ext cx="5532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Perda irreversível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6629400" y="9250680"/>
            <a:ext cx="55321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Chave perdida, contrato perdido.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2115800" y="8572500"/>
            <a:ext cx="5029200" cy="381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2115800" y="8801100"/>
            <a:ext cx="5532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Sem votação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12115800" y="9250680"/>
            <a:ext cx="55321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Sem banca colegiada nem recursos.</a:t>
            </a:r>
            <a:endParaRPr lang="en-US" sz="1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7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49555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0D24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HIPÓTESE TRANSVERSAL DO AUTOR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3196590"/>
            <a:ext cx="15304770" cy="2929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200"/>
              </a:lnSpc>
              <a:buNone/>
            </a:pPr>
            <a:r>
              <a:rPr lang="en-US" sz="6900" b="1" dirty="0">
                <a:solidFill>
                  <a:srgbClr val="0D244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Um obstáculo atravessa os cinco eixos: o medo de experimentar o novo.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143000" y="6621780"/>
            <a:ext cx="13735050" cy="1398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48"/>
              </a:lnSpc>
              <a:buNone/>
            </a:pPr>
            <a:r>
              <a:rPr lang="en-US" sz="2550" dirty="0">
                <a:solidFill>
                  <a:srgbClr val="0D244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Gestores que mantêm sistemas legados, usuários cautelosos com algoritmos, profissionais afetados pela automação. A maior barreira pode ser mais cultural e organizacional que tecnológica.</a:t>
            </a:r>
            <a:endParaRPr lang="en-US" sz="2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52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972050"/>
            <a:ext cx="17602200" cy="2609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721"/>
              </a:lnSpc>
              <a:buNone/>
            </a:pPr>
            <a:r>
              <a:rPr lang="en-US" sz="225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1143000" y="7734300"/>
            <a:ext cx="17602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protótipo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1143000" y="9105900"/>
            <a:ext cx="17602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DCE6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Um contrato em Solidity para o fluxo de TCC, usado como laboratório das barreiras</a:t>
            </a:r>
            <a:endParaRPr lang="en-US" sz="3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· METODOLOGIA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Duas frentes que se alimentam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2734032"/>
            <a:ext cx="7810500" cy="6790968"/>
          </a:xfrm>
          <a:prstGeom prst="roundRect">
            <a:avLst>
              <a:gd name="adj" fmla="val 168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62100" y="3153132"/>
            <a:ext cx="76695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6528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Revisão sistemática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562100" y="3877032"/>
            <a:ext cx="76695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Bases: </a:t>
            </a:r>
            <a:r>
              <a:rPr lang="en-US" sz="225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IEEE Xplore, ACM DL, SpringerLink, arXiv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562100" y="4467582"/>
            <a:ext cx="76695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Recorte: </a:t>
            </a:r>
            <a:r>
              <a:rPr lang="en-US" sz="225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2017–2026, revisado por pares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562100" y="5058133"/>
            <a:ext cx="76695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Triagem: </a:t>
            </a:r>
            <a:r>
              <a:rPr lang="en-US" sz="225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funil em três fases (PRISMA 2020)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62100" y="5648683"/>
            <a:ext cx="76695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Síntese: </a:t>
            </a:r>
            <a:r>
              <a:rPr lang="en-US" sz="225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matriz por camada, consenso e aplicação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334500" y="2734032"/>
            <a:ext cx="7810500" cy="6790968"/>
          </a:xfrm>
          <a:prstGeom prst="roundRect">
            <a:avLst>
              <a:gd name="adj" fmla="val 168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753600" y="3153132"/>
            <a:ext cx="76695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Pesquisa experimental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753600" y="3877032"/>
            <a:ext cx="718146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Contrato: </a:t>
            </a:r>
            <a:r>
              <a:rPr lang="en-US" sz="225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Solidity 0.8.28, OpenZeppelin 5.x (ERC-721, Ownable)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753600" y="4867632"/>
            <a:ext cx="76695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Ambiente: </a:t>
            </a:r>
            <a:r>
              <a:rPr lang="en-US" sz="225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Hardhat, rede EVM local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753600" y="5458183"/>
            <a:ext cx="76695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Coleta: </a:t>
            </a:r>
            <a:r>
              <a:rPr lang="en-US" sz="225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 testes aprovados; gas dos recibos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753600" y="6048733"/>
            <a:ext cx="718146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Conversão: </a:t>
            </a:r>
            <a:r>
              <a:rPr lang="en-US" sz="225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gas a 0,09 e 5 gwei × Ether em 07/09/2026</a:t>
            </a:r>
            <a:endParaRPr lang="en-US" sz="2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3.2 · FLUXO MODELADO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 matrícula ao certificado em NFT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2429232"/>
            <a:ext cx="176022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PDF nunca vai para a rede: registra-se só o hash SHA-256.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6204585"/>
            <a:ext cx="3829050" cy="3320415"/>
          </a:xfrm>
          <a:prstGeom prst="roundRect">
            <a:avLst>
              <a:gd name="adj" fmla="val 34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" y="6204585"/>
            <a:ext cx="3829050" cy="53340"/>
          </a:xfrm>
          <a:prstGeom prst="rect">
            <a:avLst/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85900" y="6600825"/>
            <a:ext cx="34575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ORIENTADOR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85900" y="7050405"/>
            <a:ext cx="323754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Cadastro do aluno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85900" y="8041005"/>
            <a:ext cx="34575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652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cadastrarAluno()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85900" y="8513445"/>
            <a:ext cx="3237548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Restrita ao papel administrativo.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200650" y="6204585"/>
            <a:ext cx="3829050" cy="3320415"/>
          </a:xfrm>
          <a:prstGeom prst="roundRect">
            <a:avLst>
              <a:gd name="adj" fmla="val 34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200650" y="6204585"/>
            <a:ext cx="3829050" cy="53340"/>
          </a:xfrm>
          <a:prstGeom prst="rect">
            <a:avLst/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43550" y="6600825"/>
            <a:ext cx="34575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ALUNO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43550" y="7050405"/>
            <a:ext cx="323754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Submissão do hash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543550" y="8041005"/>
            <a:ext cx="34575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652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submeterTCC()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5543550" y="8513445"/>
            <a:ext cx="3237548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SHA-256 do PDF, enviado uma única vez.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258300" y="6204585"/>
            <a:ext cx="3829050" cy="3320415"/>
          </a:xfrm>
          <a:prstGeom prst="roundRect">
            <a:avLst>
              <a:gd name="adj" fmla="val 34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258300" y="6204585"/>
            <a:ext cx="3829050" cy="53340"/>
          </a:xfrm>
          <a:prstGeom prst="rect">
            <a:avLst/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0" y="6600825"/>
            <a:ext cx="34575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ORIENTADOR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0" y="7050405"/>
            <a:ext cx="323754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Aprovação ou rejeição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601200" y="8041005"/>
            <a:ext cx="34575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652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aprovarTCC()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601200" y="8513445"/>
            <a:ext cx="3237548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validação semântica segue humana.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3315950" y="6204585"/>
            <a:ext cx="3829050" cy="3320415"/>
          </a:xfrm>
          <a:prstGeom prst="roundRect">
            <a:avLst>
              <a:gd name="adj" fmla="val 3442"/>
            </a:avLst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3315950" y="6204585"/>
            <a:ext cx="3829050" cy="5334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658850" y="6600825"/>
            <a:ext cx="34575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CONTRATO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658850" y="7050405"/>
            <a:ext cx="323754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Certificado em NFT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3658850" y="8041005"/>
            <a:ext cx="34575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_safeMint()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3658850" y="8513445"/>
            <a:ext cx="3237548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Emissão automática do ERC-721.</a:t>
            </a:r>
            <a:endParaRPr lang="en-US" sz="1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00584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APÊNDICE A · TCCDelivery.sol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143000" y="1501140"/>
            <a:ext cx="9144000" cy="7789545"/>
          </a:xfrm>
          <a:prstGeom prst="roundRect">
            <a:avLst>
              <a:gd name="adj" fmla="val 1467"/>
            </a:avLst>
          </a:prstGeom>
          <a:solidFill>
            <a:srgbClr val="0818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524000" y="1882140"/>
            <a:ext cx="8656320" cy="7065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contract TCCDelivery is ERC721, Ownable {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mapping(address =&gt; Aluno) public alunos;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function cadastrarAluno(...)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external  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onlyOwner </a:t>
            </a: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{ … }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function submeterTCC(string hashTCC) external {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require(a.podeSubmeter);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require( 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!a.submetido </a:t>
            </a: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);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a.hashTCC = hashTCC;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}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function aprovarTCC(address aluno)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external  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onlyOwner </a:t>
            </a: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{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_safeMint </a:t>
            </a: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(aluno, a.tokenId);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}</a:t>
            </a:r>
            <a:endParaRPr lang="en-US" sz="2100" dirty="0"/>
          </a:p>
          <a:p>
            <a:pPr marL="0" indent="0" algn="l">
              <a:lnSpc>
                <a:spcPct val="117935"/>
              </a:lnSpc>
              <a:buNone/>
            </a:pPr>
            <a:r>
              <a:rPr lang="en-US" sz="2100" dirty="0">
                <a:solidFill>
                  <a:srgbClr val="C5D2E0"/>
                </a:solidFill>
                <a:highlight>
                  <a:srgbClr val="08182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049000" y="2946083"/>
            <a:ext cx="627888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33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Três linhas que contêm as barreiras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1049000" y="4287203"/>
            <a:ext cx="6705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onlyOwner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049000" y="4729163"/>
            <a:ext cx="670560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Todo o poder em uma carteira: governança.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049000" y="5508307"/>
            <a:ext cx="6705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require(!a.submetido)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1049000" y="5950268"/>
            <a:ext cx="670560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Rigidez binária diante de recursos e prorrogações.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049000" y="6729413"/>
            <a:ext cx="6705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_safeMint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049000" y="7171373"/>
            <a:ext cx="670560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Certificado verificável sem depender do emissor.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4.1 · CUSTOS OPERACIONAIS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Gas medido e custo por operação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3084552"/>
            <a:ext cx="2650331" cy="15240"/>
          </a:xfrm>
          <a:prstGeom prst="rect">
            <a:avLst/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2657832"/>
            <a:ext cx="272984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OPERAÇÃO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3793331" y="3084552"/>
            <a:ext cx="1656517" cy="15240"/>
          </a:xfrm>
          <a:prstGeom prst="rect">
            <a:avLst/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17131" y="2657832"/>
            <a:ext cx="173271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449848" y="3084552"/>
            <a:ext cx="1656517" cy="15240"/>
          </a:xfrm>
          <a:prstGeom prst="rect">
            <a:avLst/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73648" y="2657832"/>
            <a:ext cx="173271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0,09 GWEI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106364" y="3084552"/>
            <a:ext cx="1656636" cy="15240"/>
          </a:xfrm>
          <a:prstGeom prst="rect">
            <a:avLst/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030164" y="2657832"/>
            <a:ext cx="173283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GWEI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143000" y="3770352"/>
            <a:ext cx="2650331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3000" y="3290292"/>
            <a:ext cx="27298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deploy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3793331" y="3770352"/>
            <a:ext cx="1656517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17131" y="3290292"/>
            <a:ext cx="173271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1.656.424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449848" y="3770352"/>
            <a:ext cx="1656517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73648" y="3290292"/>
            <a:ext cx="173271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R$ 1,92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7106364" y="3770352"/>
            <a:ext cx="1656636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30164" y="3290292"/>
            <a:ext cx="1732836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R$ 106,65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43000" y="4448532"/>
            <a:ext cx="2650331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3000" y="3968472"/>
            <a:ext cx="27298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cadastrarAluno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3793331" y="4448532"/>
            <a:ext cx="1656517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17131" y="3968472"/>
            <a:ext cx="173271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77.103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5449848" y="4448532"/>
            <a:ext cx="1656517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73648" y="3968472"/>
            <a:ext cx="173271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R$ 0,09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7106364" y="4448532"/>
            <a:ext cx="1656636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30164" y="3968472"/>
            <a:ext cx="1732836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R$ 4,96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143000" y="5126712"/>
            <a:ext cx="2650331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43000" y="4646652"/>
            <a:ext cx="27298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submeterTCC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3793331" y="5126712"/>
            <a:ext cx="1656517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717131" y="4646652"/>
            <a:ext cx="173271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116.797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5449848" y="5126712"/>
            <a:ext cx="1656517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73648" y="4646652"/>
            <a:ext cx="173271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R$ 0,14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7106364" y="5126712"/>
            <a:ext cx="1656636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030164" y="4646652"/>
            <a:ext cx="1732836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R$ 7,52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1143000" y="5804893"/>
            <a:ext cx="2650331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143000" y="5324833"/>
            <a:ext cx="27298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aprovarTCC + mint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3793331" y="5804893"/>
            <a:ext cx="1656517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717131" y="5324833"/>
            <a:ext cx="173271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107.643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5449848" y="5804893"/>
            <a:ext cx="1656517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373648" y="5324833"/>
            <a:ext cx="173271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R$ 0,12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7106364" y="5804893"/>
            <a:ext cx="1656636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030164" y="5324833"/>
            <a:ext cx="1732836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R$ 6,93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1143000" y="6483072"/>
            <a:ext cx="2650331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143000" y="6003012"/>
            <a:ext cx="27298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rejeitarTCC</a:t>
            </a:r>
            <a:endParaRPr lang="en-US" sz="2100" dirty="0"/>
          </a:p>
        </p:txBody>
      </p:sp>
      <p:sp>
        <p:nvSpPr>
          <p:cNvPr id="46" name="Shape 44"/>
          <p:cNvSpPr/>
          <p:nvPr/>
        </p:nvSpPr>
        <p:spPr>
          <a:xfrm>
            <a:off x="3793331" y="6483072"/>
            <a:ext cx="1656517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717131" y="6003012"/>
            <a:ext cx="173271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27.626</a:t>
            </a:r>
            <a:endParaRPr lang="en-US" sz="2100" dirty="0"/>
          </a:p>
        </p:txBody>
      </p:sp>
      <p:sp>
        <p:nvSpPr>
          <p:cNvPr id="48" name="Shape 46"/>
          <p:cNvSpPr/>
          <p:nvPr/>
        </p:nvSpPr>
        <p:spPr>
          <a:xfrm>
            <a:off x="5449848" y="6483072"/>
            <a:ext cx="1656517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373648" y="6003012"/>
            <a:ext cx="173271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R$ 0,03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7106364" y="6483072"/>
            <a:ext cx="1656636" cy="9525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030164" y="6003012"/>
            <a:ext cx="1732836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R$ 1,78</a:t>
            </a:r>
            <a:endParaRPr lang="en-US" sz="2100" dirty="0"/>
          </a:p>
        </p:txBody>
      </p:sp>
      <p:sp>
        <p:nvSpPr>
          <p:cNvPr id="52" name="Shape 50"/>
          <p:cNvSpPr/>
          <p:nvPr/>
        </p:nvSpPr>
        <p:spPr>
          <a:xfrm>
            <a:off x="1143000" y="6490692"/>
            <a:ext cx="2650331" cy="960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143000" y="6681192"/>
            <a:ext cx="2729841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Fluxo completo / aluno</a:t>
            </a:r>
            <a:endParaRPr lang="en-US" sz="2100" dirty="0"/>
          </a:p>
        </p:txBody>
      </p:sp>
      <p:sp>
        <p:nvSpPr>
          <p:cNvPr id="54" name="Shape 52"/>
          <p:cNvSpPr/>
          <p:nvPr/>
        </p:nvSpPr>
        <p:spPr>
          <a:xfrm>
            <a:off x="3793331" y="6490692"/>
            <a:ext cx="1656517" cy="960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717131" y="6681192"/>
            <a:ext cx="1732717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301.543</a:t>
            </a:r>
            <a:endParaRPr lang="en-US" sz="2100" dirty="0"/>
          </a:p>
        </p:txBody>
      </p:sp>
      <p:sp>
        <p:nvSpPr>
          <p:cNvPr id="56" name="Shape 54"/>
          <p:cNvSpPr/>
          <p:nvPr/>
        </p:nvSpPr>
        <p:spPr>
          <a:xfrm>
            <a:off x="5449848" y="6490692"/>
            <a:ext cx="1656517" cy="960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373648" y="6681192"/>
            <a:ext cx="1732717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R$ 0,35</a:t>
            </a:r>
            <a:endParaRPr lang="en-US" sz="2100" dirty="0"/>
          </a:p>
        </p:txBody>
      </p:sp>
      <p:sp>
        <p:nvSpPr>
          <p:cNvPr id="58" name="Shape 56"/>
          <p:cNvSpPr/>
          <p:nvPr/>
        </p:nvSpPr>
        <p:spPr>
          <a:xfrm>
            <a:off x="7106364" y="6490692"/>
            <a:ext cx="1656636" cy="960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030164" y="6681192"/>
            <a:ext cx="1732836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R$ 19,41</a:t>
            </a:r>
            <a:endParaRPr lang="en-US" sz="2100" dirty="0"/>
          </a:p>
        </p:txBody>
      </p:sp>
      <p:sp>
        <p:nvSpPr>
          <p:cNvPr id="60" name="Text 58"/>
          <p:cNvSpPr/>
          <p:nvPr/>
        </p:nvSpPr>
        <p:spPr>
          <a:xfrm>
            <a:off x="9525000" y="2657832"/>
            <a:ext cx="83820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FLUXO COMPLETO POR ALUNO (R$)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9525000" y="6765012"/>
            <a:ext cx="7620000" cy="22860"/>
          </a:xfrm>
          <a:prstGeom prst="rect">
            <a:avLst/>
          </a:prstGeom>
          <a:solidFill>
            <a:srgbClr val="102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984106" y="6220183"/>
            <a:ext cx="139979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R$ 0,35</a:t>
            </a:r>
            <a:endParaRPr lang="en-US" sz="2700" dirty="0"/>
          </a:p>
        </p:txBody>
      </p:sp>
      <p:sp>
        <p:nvSpPr>
          <p:cNvPr id="63" name="Shape 61"/>
          <p:cNvSpPr/>
          <p:nvPr/>
        </p:nvSpPr>
        <p:spPr>
          <a:xfrm>
            <a:off x="9906000" y="6688812"/>
            <a:ext cx="1428750" cy="76200"/>
          </a:xfrm>
          <a:prstGeom prst="rect">
            <a:avLst/>
          </a:prstGeom>
          <a:solidFill>
            <a:srgbClr val="1652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2096750" y="3438882"/>
            <a:ext cx="163593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R$ 19,41</a:t>
            </a:r>
            <a:endParaRPr lang="en-US" sz="2700" dirty="0"/>
          </a:p>
        </p:txBody>
      </p:sp>
      <p:sp>
        <p:nvSpPr>
          <p:cNvPr id="65" name="Shape 63"/>
          <p:cNvSpPr/>
          <p:nvPr/>
        </p:nvSpPr>
        <p:spPr>
          <a:xfrm>
            <a:off x="12125920" y="3907512"/>
            <a:ext cx="1428750" cy="2857500"/>
          </a:xfrm>
          <a:prstGeom prst="rect">
            <a:avLst/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4536460" y="4288512"/>
            <a:ext cx="2406741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463"/>
              </a:lnSpc>
              <a:buNone/>
            </a:pPr>
            <a:r>
              <a:rPr lang="en-US" sz="90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×55</a:t>
            </a:r>
            <a:endParaRPr lang="en-US" sz="9000" dirty="0"/>
          </a:p>
        </p:txBody>
      </p:sp>
      <p:sp>
        <p:nvSpPr>
          <p:cNvPr id="67" name="Text 65"/>
          <p:cNvSpPr/>
          <p:nvPr/>
        </p:nvSpPr>
        <p:spPr>
          <a:xfrm>
            <a:off x="9834563" y="6902172"/>
            <a:ext cx="157162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0,09 gwei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12025313" y="6902172"/>
            <a:ext cx="157162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C6C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gwei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9525000" y="7542252"/>
            <a:ext cx="78486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barreira é a imprevisibilidade, não o valor unitário: o orçamento fica exposto ao gas e ao Ether.</a:t>
            </a:r>
            <a:endParaRPr lang="en-US" sz="2250" dirty="0"/>
          </a:p>
        </p:txBody>
      </p:sp>
      <p:sp>
        <p:nvSpPr>
          <p:cNvPr id="70" name="Text 68"/>
          <p:cNvSpPr/>
          <p:nvPr/>
        </p:nvSpPr>
        <p:spPr>
          <a:xfrm>
            <a:off x="1143000" y="9281160"/>
            <a:ext cx="176022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Rede local Hardhat · 1 ETH = R$ 12.876,63 em 07/09/2026 (CoinMarketCap; Etherscan)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4.2–4.4 · CENÁRIOS DE BARREIRA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que o laboratório tornou visível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2734032"/>
            <a:ext cx="5079921" cy="6790968"/>
          </a:xfrm>
          <a:prstGeom prst="roundRect">
            <a:avLst>
              <a:gd name="adj" fmla="val 2250"/>
            </a:avLst>
          </a:prstGeom>
          <a:solidFill>
            <a:srgbClr val="162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62100" y="3153132"/>
            <a:ext cx="436897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Problema do Oráculo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562100" y="4296132"/>
            <a:ext cx="2907030" cy="548640"/>
          </a:xfrm>
          <a:prstGeom prst="roundRect">
            <a:avLst>
              <a:gd name="adj" fmla="val 13889"/>
            </a:avLst>
          </a:prstGeom>
          <a:solidFill>
            <a:srgbClr val="0D2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52600" y="4410432"/>
            <a:ext cx="261324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arquivo em branco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752600" y="4940022"/>
            <a:ext cx="155426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↓ SHA-256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562100" y="5347692"/>
            <a:ext cx="3538299" cy="563880"/>
          </a:xfrm>
          <a:prstGeom prst="roundRect">
            <a:avLst>
              <a:gd name="adj" fmla="val 13514"/>
            </a:avLst>
          </a:prstGeom>
          <a:solidFill>
            <a:srgbClr val="EF7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52600" y="5461992"/>
            <a:ext cx="326344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D24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TCCSubmetido ✓ aceito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562100" y="7871460"/>
            <a:ext cx="4368972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81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Garante integridade e anterioridade, não legitimidade.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603921" y="2734032"/>
            <a:ext cx="5080040" cy="6790968"/>
          </a:xfrm>
          <a:prstGeom prst="roundRect">
            <a:avLst>
              <a:gd name="adj" fmla="val 2250"/>
            </a:avLst>
          </a:prstGeom>
          <a:solidFill>
            <a:srgbClr val="162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23021" y="3153132"/>
            <a:ext cx="46660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Governança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7023021" y="3838932"/>
            <a:ext cx="436909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Conta não autorizada teve aprovarTCC revertida (OwnableUnauthorizedAccount).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023021" y="7871460"/>
            <a:ext cx="4369095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81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Chave perdida: reimplantar (+1.656.424 gas) e migrar o estado à mão.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2064960" y="2734032"/>
            <a:ext cx="5080040" cy="6790968"/>
          </a:xfrm>
          <a:prstGeom prst="roundRect">
            <a:avLst>
              <a:gd name="adj" fmla="val 2250"/>
            </a:avLst>
          </a:prstGeom>
          <a:solidFill>
            <a:srgbClr val="162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484060" y="3153132"/>
            <a:ext cx="46660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Por camada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2484060" y="3838932"/>
            <a:ext cx="436909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Aplicação: </a:t>
            </a:r>
            <a:r>
              <a:rPr lang="en-US" sz="225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oráculo, acesso centralizado, armazenamento caro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484060" y="5229583"/>
            <a:ext cx="466602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Consenso: </a:t>
            </a:r>
            <a:r>
              <a:rPr lang="en-US" sz="225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custo sensível ao gas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484060" y="5820133"/>
            <a:ext cx="436909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4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Rede: </a:t>
            </a:r>
            <a:r>
              <a:rPr lang="en-US" sz="2250" dirty="0">
                <a:solidFill>
                  <a:srgbClr val="C5D2E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latência não medida em ambiente local</a:t>
            </a:r>
            <a:endParaRPr lang="en-US" sz="2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· CONCLUSÕES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176022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710"/>
              </a:lnSpc>
              <a:buNone/>
            </a:pPr>
            <a:r>
              <a:rPr lang="en-US" sz="51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questão de pesquisa, respondida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2734032"/>
            <a:ext cx="16002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3375541"/>
            <a:ext cx="12192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743200" y="3407926"/>
            <a:ext cx="14833854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80"/>
              </a:lnSpc>
              <a:buNone/>
            </a:pPr>
            <a:r>
              <a:rPr lang="en-US" sz="27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As limitações da arquitetura criam barreiras concretas: custo sensível ao gas, documentos sem validação de legitimidade, governança presa a uma chave.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143000" y="4992529"/>
            <a:ext cx="16002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5634157"/>
            <a:ext cx="12192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2743200" y="5666542"/>
            <a:ext cx="14833854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80"/>
              </a:lnSpc>
              <a:buNone/>
            </a:pPr>
            <a:r>
              <a:rPr lang="en-US" sz="27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tecnologia funciona e custa pouco em condições normais. O desafio é acomodar imutabilidade a processos que exigem exceção, recurso e julgamento.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143000" y="9509760"/>
            <a:ext cx="16002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43000" y="7251145"/>
            <a:ext cx="16002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7892772"/>
            <a:ext cx="12192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EF7F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2743200" y="7925158"/>
            <a:ext cx="14833854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80"/>
              </a:lnSpc>
              <a:buNone/>
            </a:pPr>
            <a:r>
              <a:rPr lang="en-US" sz="2700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hipótese se reforça: a maior barreira é cultural e organizacional. Protótipos de baixo risco ajudam na transição gradual de confiança.</a:t>
            </a:r>
            <a:endParaRPr lang="en-US" sz="2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62865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LIMITAÇÕES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01140"/>
            <a:ext cx="5886450" cy="13546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310"/>
              </a:lnSpc>
              <a:buNone/>
            </a:pPr>
            <a:r>
              <a:rPr lang="en-US" sz="480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alcance deste estudo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274933"/>
            <a:ext cx="5715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3518773"/>
            <a:ext cx="588645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81"/>
              </a:lnSpc>
              <a:buNone/>
            </a:pPr>
            <a:r>
              <a:rPr lang="en-US" sz="24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Rede local, sem latência de rede pública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4196953"/>
            <a:ext cx="5715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4440793"/>
            <a:ext cx="588645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81"/>
              </a:lnSpc>
              <a:buNone/>
            </a:pPr>
            <a:r>
              <a:rPr lang="en-US" sz="24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Controle de acesso simples (Ownable)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5118973"/>
            <a:ext cx="57150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5362813"/>
            <a:ext cx="588645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81"/>
              </a:lnSpc>
              <a:buNone/>
            </a:pPr>
            <a:r>
              <a:rPr lang="en-US" sz="24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Cotações pontuais de um mercado volátil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810500" y="952500"/>
            <a:ext cx="102679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TRABALHOS FUTUROS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810500" y="1882140"/>
            <a:ext cx="9334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10500" y="2133600"/>
            <a:ext cx="39624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435340" y="2087880"/>
            <a:ext cx="5957507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Sepolia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8435340" y="2541270"/>
            <a:ext cx="595750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Rede pública de testes: latência e custos reais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810500" y="3407569"/>
            <a:ext cx="9334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810500" y="3659029"/>
            <a:ext cx="39624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435340" y="3613309"/>
            <a:ext cx="697395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Multi-Sig ou DAO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8435340" y="4066699"/>
            <a:ext cx="6973955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Conselho de professores e sobrecusto de governança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7810500" y="4933117"/>
            <a:ext cx="9334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10500" y="5184577"/>
            <a:ext cx="39624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435340" y="5138857"/>
            <a:ext cx="432354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Proxy ERC-1967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8435340" y="5592246"/>
            <a:ext cx="432354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Atualizabilidade versus confiança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7810500" y="6458664"/>
            <a:ext cx="9334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10500" y="6710125"/>
            <a:ext cx="39624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435340" y="6664404"/>
            <a:ext cx="5941528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Interface dApp</a:t>
            </a:r>
            <a:endParaRPr lang="en-US" sz="2850" dirty="0"/>
          </a:p>
        </p:txBody>
      </p:sp>
      <p:sp>
        <p:nvSpPr>
          <p:cNvPr id="26" name="Text 24"/>
          <p:cNvSpPr/>
          <p:nvPr/>
        </p:nvSpPr>
        <p:spPr>
          <a:xfrm>
            <a:off x="8435340" y="7117795"/>
            <a:ext cx="5941528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Uso sem conhecimento técnico de blockchain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7810500" y="9509760"/>
            <a:ext cx="9334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810500" y="7984212"/>
            <a:ext cx="9334500" cy="15240"/>
          </a:xfrm>
          <a:prstGeom prst="rect">
            <a:avLst/>
          </a:prstGeom>
          <a:solidFill>
            <a:srgbClr val="DCD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810500" y="8235672"/>
            <a:ext cx="39624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8435340" y="8189952"/>
            <a:ext cx="6353687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024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Extensão universitária</a:t>
            </a:r>
            <a:endParaRPr lang="en-US" sz="2850" dirty="0"/>
          </a:p>
        </p:txBody>
      </p:sp>
      <p:sp>
        <p:nvSpPr>
          <p:cNvPr id="31" name="Text 29"/>
          <p:cNvSpPr/>
          <p:nvPr/>
        </p:nvSpPr>
        <p:spPr>
          <a:xfrm>
            <a:off x="8435340" y="8643342"/>
            <a:ext cx="635368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C7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Certificado disparado pela validação de presença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291590"/>
            <a:ext cx="591441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EF7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IMESA/FEMA · ASSIS/SP · 2026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13928408" y="952500"/>
            <a:ext cx="3216593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5108" y="1066800"/>
            <a:ext cx="2683193" cy="800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4069080"/>
            <a:ext cx="1760220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575"/>
              </a:lnSpc>
              <a:buNone/>
            </a:pPr>
            <a:r>
              <a:rPr lang="en-US" sz="15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Obrigado.</a:t>
            </a:r>
            <a:endParaRPr lang="en-US" sz="15000" dirty="0"/>
          </a:p>
        </p:txBody>
      </p:sp>
      <p:sp>
        <p:nvSpPr>
          <p:cNvPr id="6" name="Text 3"/>
          <p:cNvSpPr/>
          <p:nvPr/>
        </p:nvSpPr>
        <p:spPr>
          <a:xfrm>
            <a:off x="1143000" y="6278880"/>
            <a:ext cx="17602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8FA6B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À disposição da banca para perguntas.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1143000" y="8823960"/>
            <a:ext cx="28113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AUTOR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9197340"/>
            <a:ext cx="26324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Arthur Naoto Miura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841796" y="8823960"/>
            <a:ext cx="524123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6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ORIENTAÇÃO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841796" y="9197340"/>
            <a:ext cx="49077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Prof. Me. Claudinei Moreira da Silva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2745</Words>
  <Application>Microsoft Office PowerPoint</Application>
  <PresentationFormat>Custom</PresentationFormat>
  <Paragraphs>429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Archivo</vt:lpstr>
      <vt:lpstr>Arial</vt:lpstr>
      <vt:lpstr>IBM Plex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Arthur Naoto Miura</cp:lastModifiedBy>
  <cp:revision>2</cp:revision>
  <dcterms:created xsi:type="dcterms:W3CDTF">2026-10-06T22:30:07Z</dcterms:created>
  <dcterms:modified xsi:type="dcterms:W3CDTF">2026-10-06T23:25:32Z</dcterms:modified>
</cp:coreProperties>
</file>