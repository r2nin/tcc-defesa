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0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Boa tarde. Sou Arthur Naoto Miura e apresento o TCC Blockchain e Smart Contracts: barreiras à sua adoção, orientado pelo Prof. Me. Claudinei Moreira da Silva. Percorro os fundamentos, as barreiras levantadas na revisão sistemática e o protótipo em Solidity que usei como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[0:30–1:30] O white paper de Nakamoto, em 2008, inaugurou um paradigma em que a confiança deixa de depender de intermediários e passa a ser sustentada por criptografia, consenso e transparência. Sobre essa base surgiram os smart contracts. O problema é que, quase vinte anos depois, a adoção institucional segue restrita.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[1:30–2:15] Daí a questão de pesquisa. Leia-se com atenção a segunda metade: não basta mapear barreiras na literatura; era preciso um caso concreto onde elas pudessem ser observadas. Escolhi um processo que a banca conhece de perto: o próprio fluxo de entrega de TCC.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[2:15–3:00] O objetivo geral reúne as duas frentes: analisar as barreiras e modelar um protótipo para validá-las. Os quatro objetivos específicos são as etapas metodológicas — os três primeiros de natureza teórica, o quarto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[3:00–3:10] Passo aos fundamentos.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[3:10–4:20] Blockchain é um livro-razão distribuído: blocos encadeados por hash e replicados entre os nós. Três primitivas sustentam tudo o que vem depois: o encadeamento criptográfico, a árvore de Merkle e o consenso distribuído. Se qualquer registro é alterado, o hash muda e a cadeia se rompe — é isso, e não uma autoridade, que garante a integridade.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[4:20–5:10] Vale registrar a origem, porque ela é acadêmica. Em 1991, Haber e Stornetta criaram o carimbo de tempo encadeado motivados por um caso de fraude científica: alguém retrodatando registros de laboratório. Ou seja: o problema que originou o blockchain é exatamente o problema de provar a anterioridade de um documento — o mesmo do meu protótipo.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[5:10–6:10] O consenso resolve o Problema dos Generais Bizantinos. O PoW faz isso ao custo de energia comparável a de países inteiros; o PoS troca competição computacional por participação econômica, sendo muito mais eficiente, mas com crítica de concentração de poder de validação. A escolha do mecanismo já determina metade das barreiras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[6:10–7:10] Szabo propôs os contratos inteligentes nos anos 1990 com a analogia da máquina de venda automática: o comprador não precisa confiar no vendedor, porque a máquina executa sozinha quando as condições são atendidas. O ciclo de vida tem quatro fases — e reparem na segunda: no deploy o código se torna imutável. Todas as barreiras de segurança que vou apresentar decorrem desse instante.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[7:10–7:20] Chegamos ao eixo central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[7:20–7:50] A revisão sistemática permitiu organizar as barreiras em cinco eixos. Percorro cada um rapidamente, e peço atenção ao quinto, que é uma contribuição do próprio protótipo — a literatura o trata de forma dispersa.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[7:50–8:30] No eixo técnico, três limitações. Destaco a terceira, menos comentada: a blockchain não tem chave primária nem tabela. Recuperar histórico exige varrer bloco por bloco — o que torna caro qualquer sistema institucional que precise consultar dados, como um portal acadêmico.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[8:30–9:30] O eixo de segurança tem dois números que resumem o problema. O ataque ao The DAO, em 2016, explorou reentrância e drenou cerca de 60 milhões de dólares em Ether — e não havia como corrigir o código. E um estudo empírico recente encontrou comportamento anômalo em 42,2 por cento de uma amostra massiva de contratos: desde bloqueio de transferência até geração infinita de tokens para o criador.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[9:30–10:20] No plano jurídico, a lei é escrita de forma genérica justamente para permitir interpretação; o código é rígido e binário. Um contrato tradicional pode ser anulado por fraude ou coerção — o smart contract executa de todo modo. E o Problema do Oráculo é o mais estrutural: para saber se algo aconteceu no mundo físico, o contrato depende de um terceiro, o que reintroduz a confiança que ele prometia eliminar.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[10:20–10:50] No eixo socioeconômico: custo de gas imprevisível, escassez severa de desenvolvedores com segurança de contratos, resistência de quem vive da intermediação — notários, corretores, despachantes — e ausência de infraestrutura digital básica, como mostrou o estudo de caso de registro de terras na Índia.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[10:50–11:40] O quinto eixo emergiu do próprio protótipo. Ao usar o modificador Ownable do OpenZeppelin, dei ao orientador poder absoluto sobre as funções críticas — praticamente o oposto da descentralização. E o risco mais grave: se a chave privada for perdida, o contrato torna-se permanentemente inoperante. A troca de um responsável, trivial no mundo corporativo, vira falha terminal. Multi-Sig e DAO mitigam, ao custo de complexidade.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[11:40–12:20] E aqui está a hipótese autoral deste trabalho. Para além dos cinco eixos, existe uma barreira transversal: o medo de experimentar o novo. Ele aparece no gestor que prefere o sistema legado ineficiente, no usuário que desconfia de trocar a instituição pelo algoritmo, e no profissional cujo modelo de negócio a automação ameaça. Sob essa leitura, a maior barreira é menos tecnológica e mais cultural e organizacional.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[12:20–12:30] Vamos ao experimento.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[12:30–13:20] Pesquisa aplicada, qualitativa, exploratória e descritiva, em duas frentes. A revisão sistemática em quatro bases, com triagem PRISMA 2020. E o experimento: contrato em Solidity 0.8.28 com OpenZeppelin, executado na rede local do Hardhat, com quatro testes automatizados — todos aprovados. O gas vem dos recibos das transações, convertido em dois cenários de preço.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[13:20–14:00] O fluxo modelado tem quatro etapas. O orientador cadastra o aluno; o aluno submete o hash SHA-256 do PDF, como prova de integridade e anterioridade; o orientador aprova ou rejeita; e, se aprovado, um NFT é emitido como certificado. Todos os passos emitem eventos, o que dá rastreabilidade. Note que o arquivo em si nunca vai para a rede — apenas sua impressão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[14:00–14:50] Este é o núcleo do contrato. Chamo atenção para três linhas. O 'onlyOwner' na função de aprovação: é a barreira de governança materializada. O 'require' de submissão única: uma regra rígida que a burocracia real precisa flexibilizar. E o '_safeMint', que emite o certificado. Cerca de 90 linhas em Solidity bastam para expor quatro dos cinco eixos de barreiras.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[14:50–16:00] Implantar o contrato custou 1.656.424 unidades de gas; o fluxo completo de um aluno, cerca de 300 mil. Com a rede ociosa, a 0,09 gwei, isso dá 35 centavos por aluno — nenhuma barreira. Mas basta um congestionamento moderado, 5 gwei, para o custo subir 55 vezes: R$ 19,41 por aluno e R$ 106 só para implantar. A barreira é a imprevisibilidade orçamentária, com dupla exposição: gas e cotação do Ether. Detalhe: submeter o hash custa mais que cadastrar o aluno, porque gravar texto on-chain é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[16:00–17:00] Primeiro, o Problema do Oráculo: submeti o hash de um arquivo em branco e o contrato aceitou, exatamente como aceitaria um TCC. Resultado deliberadamente anticlimático — e é a evidência central. Segundo, governança: uma conta não autorizada foi barrada, o controle funciona; mas tudo depende de uma chave, e sua perda obriga a reimplantar e migrar o estado manualmente. Por camada: na rede, a latência não foi medida — limitação do ambiente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[17:00–18:10] A questão de pesquisa se responde afirmativamente: as barreiras são concretas e mensuráveis, mesmo no fluxo institucional mais simples. A tecnologia funciona e é barata em condições normais; o difícil é acomodá-la a processos humanos que exigem exceção e julgamento. Isso reforça a hipótese: a maior barreira é cultural — o medo de experimentar 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[18:10–19:10] Três limitações delimitam o estudo: rede local, controle de acesso simples e cotações pontuais. Delas derivam cinco trabalhos futuros: levar à Sepolia e medir latência; governança Multi-Sig ou DAO; proxy ERC-1967; uma interface dApp; e a extensão para certificados de curricularização da extensão.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[19:10–19:30] Agradeço à banca e ao meu orientador. Fico à disposição para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91590"/>
            <a:ext cx="506953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DEFESA DE TCC · OUT 2026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3928408" y="952500"/>
            <a:ext cx="3216593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108" y="1066800"/>
            <a:ext cx="2683193" cy="800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3691890"/>
            <a:ext cx="1648206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9900" b="1" kern="0" spc="-198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Blockchain e Smart Contracts</a:t>
            </a:r>
            <a:endParaRPr lang="en-US" sz="9900" dirty="0"/>
          </a:p>
        </p:txBody>
      </p:sp>
      <p:sp>
        <p:nvSpPr>
          <p:cNvPr id="6" name="Text 3"/>
          <p:cNvSpPr/>
          <p:nvPr/>
        </p:nvSpPr>
        <p:spPr>
          <a:xfrm>
            <a:off x="1143000" y="6549390"/>
            <a:ext cx="1760220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8FA6B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Barreiras à sua adoção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143000" y="8839200"/>
            <a:ext cx="2635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ORIENTANDO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9212580"/>
            <a:ext cx="2472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Arthur Naoto Miura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491514" y="8839200"/>
            <a:ext cx="49136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ORIENTADOR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491514" y="9212580"/>
            <a:ext cx="460099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Me. Claudinei Moreira da Silva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911001" y="8839200"/>
            <a:ext cx="55588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911001" y="9212580"/>
            <a:ext cx="520509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Ciência da Computação · IMESA/FEMA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CONTEXTO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4716125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 tecnologia madura em teoria, ainda contida na prática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662124"/>
            <a:ext cx="5029200" cy="3810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966924"/>
            <a:ext cx="5532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2008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143000" y="5338525"/>
            <a:ext cx="5180076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728"/>
              </a:lnSpc>
              <a:buNone/>
            </a:pPr>
            <a:r>
              <a:rPr lang="en-US" sz="25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Nakamoto publica o white paper do Bitcoin: a confiança passa dos intermediários para a criptografia.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629400" y="3662124"/>
            <a:ext cx="5029200" cy="3810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3966924"/>
            <a:ext cx="5532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2015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629400" y="5338525"/>
            <a:ext cx="5180076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728"/>
              </a:lnSpc>
              <a:buNone/>
            </a:pPr>
            <a:r>
              <a:rPr lang="en-US" sz="25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Ethereum torna executável o contrato autoexecutável imaginado por Szabo nos anos 1990.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3662124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15800" y="3966924"/>
            <a:ext cx="5532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2026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2115800" y="5338525"/>
            <a:ext cx="5180076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728"/>
              </a:lnSpc>
              <a:buNone/>
            </a:pPr>
            <a:r>
              <a:rPr lang="en-US" sz="25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potencial permanece; a adoção institucional, não. Este trabalho investiga essa distância.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1371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QUESTÃO DE PESQUISA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714750"/>
            <a:ext cx="15304770" cy="280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15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 que forma as limitações de </a:t>
            </a:r>
            <a:r>
              <a:rPr lang="en-US" sz="43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escalabilidade</a:t>
            </a: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43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imutabilidade </a:t>
            </a: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 </a:t>
            </a:r>
            <a:r>
              <a:rPr lang="en-US" sz="43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</a:t>
            </a: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arquitetura blockchain criam barreiras aos Smart Contracts em ambientes institucionais?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7010400"/>
            <a:ext cx="146685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48"/>
              </a:lnSpc>
              <a:buNone/>
            </a:pPr>
            <a:r>
              <a:rPr lang="en-US" sz="2550" dirty="0">
                <a:solidFill>
                  <a:srgbClr val="8FA6B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modelar um fluxo acadêmico de gestão de TCC evidencia esses desafios na prática?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67056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 · OBJETIVOS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67056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 geral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657832"/>
            <a:ext cx="627888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Analisar as barreiras técnicas, de segurança, legais e socioeconômicas à adoção de blockchain e modelar um protótipo para a gestão acadêmica de TCCs.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91500" y="2234565"/>
            <a:ext cx="98488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91500" y="276034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500" y="3061335"/>
            <a:ext cx="6477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05900" y="3061335"/>
            <a:ext cx="8541782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Descrever o blockchain e os consensos PoW e PoS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191500" y="379285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91500" y="4093845"/>
            <a:ext cx="562094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020294" y="4093845"/>
            <a:ext cx="8368447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Definir smart contracts, seu ciclo de vida e o papel do Ethereum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191500" y="527113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1500" y="5572125"/>
            <a:ext cx="64770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05900" y="5572125"/>
            <a:ext cx="8280273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Investigar as barreiras técnicas, de segurança, regulatórias e socioeconômicas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8191500" y="822769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91500" y="674941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1510" y="7050405"/>
            <a:ext cx="48768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20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</a:t>
            </a:r>
            <a:endParaRPr lang="en-US" sz="2700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45880" y="7050405"/>
            <a:ext cx="8445093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Modelar o fluxo de TCC em Solidity e testar governança, oráculo e custos de gas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52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52550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273743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2550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0x0000…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2550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550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0x8f2a…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9500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10013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14813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4375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4375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3925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55118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733925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33925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0x8f2a…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33925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33925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0xc41d…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00875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91388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96187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5750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05750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15300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036493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115300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115300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0xc41d…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15300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15300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0x19be…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382250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72763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77563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287125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287125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496675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4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3417868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96675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496675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0x19be…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496675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96675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0x5d73…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763625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054138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358938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668500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>
              <a:alpha val="55000"/>
            </a:srgbClr>
          </a:solidFill>
          <a:ln/>
          <a:effectLst>
            <a:outerShdw blurRad="101600" dist="114300" dir="5400000" algn="bl" rotWithShape="0">
              <a:srgbClr val="000000">
                <a:alpha val="99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668500" y="1524000"/>
            <a:ext cx="2476500" cy="548640"/>
          </a:xfrm>
          <a:prstGeom prst="rect">
            <a:avLst/>
          </a:prstGeom>
          <a:solidFill>
            <a:srgbClr val="EF7F1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4878050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5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6799243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4878050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878050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0x5d73…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4878050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4878050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0xa07c…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43000" y="7543800"/>
            <a:ext cx="3405187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3654"/>
              </a:lnSpc>
              <a:buNone/>
            </a:pPr>
            <a:r>
              <a:rPr lang="en-US" sz="195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9500" dirty="0"/>
          </a:p>
        </p:txBody>
      </p:sp>
      <p:sp>
        <p:nvSpPr>
          <p:cNvPr id="55" name="Text 53"/>
          <p:cNvSpPr/>
          <p:nvPr/>
        </p:nvSpPr>
        <p:spPr>
          <a:xfrm>
            <a:off x="4848225" y="7867650"/>
            <a:ext cx="8474333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Fundamentos</a:t>
            </a:r>
            <a:endParaRPr lang="en-US" sz="8250" dirty="0"/>
          </a:p>
        </p:txBody>
      </p:sp>
      <p:sp>
        <p:nvSpPr>
          <p:cNvPr id="56" name="Text 54"/>
          <p:cNvSpPr/>
          <p:nvPr/>
        </p:nvSpPr>
        <p:spPr>
          <a:xfrm>
            <a:off x="4848225" y="9105900"/>
            <a:ext cx="84743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DCE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Blockchain, consenso e contratos inteligentes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· CONCEITO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livro-razão distribuído e encadeado por hash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810232"/>
            <a:ext cx="4572000" cy="1958340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15240">
            <a:solidFill>
              <a:srgbClr val="DC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01140" y="3168372"/>
            <a:ext cx="4241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n−1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1140" y="3579852"/>
            <a:ext cx="424129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0x8f2a…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01140" y="4120872"/>
            <a:ext cx="424129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transações + timestamp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19800" y="3484602"/>
            <a:ext cx="6096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858000" y="2810232"/>
            <a:ext cx="4572000" cy="1958340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15240">
            <a:solidFill>
              <a:srgbClr val="DC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16140" y="3168372"/>
            <a:ext cx="4241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16140" y="3579852"/>
            <a:ext cx="424129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0xc41d…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216140" y="4120872"/>
            <a:ext cx="424129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contém o hash anterior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734800" y="3484602"/>
            <a:ext cx="6096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2573000" y="2810232"/>
            <a:ext cx="4572000" cy="1958340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1524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31140" y="3168372"/>
            <a:ext cx="4241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n+1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31140" y="3579852"/>
            <a:ext cx="424129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0x19be…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931140" y="4120872"/>
            <a:ext cx="424129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alterar n rompe a cadeia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831723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Encadeamento por hash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143000" y="8804910"/>
            <a:ext cx="51800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Retroagir exige refazer todos os blocos posteriores.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629400" y="831723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Árvore de Merkle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629400" y="8804910"/>
            <a:ext cx="51800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hash raiz sintetiza a integridade das transações.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115800" y="831723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Consenso distribuído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115800" y="8804910"/>
            <a:ext cx="51800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Nós independentes decidem o </a:t>
            </a:r>
            <a:r>
              <a:rPr lang="en-US" sz="2100" dirty="0" err="1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estado</a:t>
            </a: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2100" dirty="0" err="1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valido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· ORIGEM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4716125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tecnologia nasceu de um problema de fraude científica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3128724"/>
            <a:ext cx="137350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Haber e Stornetta queriam impedir a retrodatação de registros de laboratório, 17 anos antes do Bitcoin.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6793230"/>
            <a:ext cx="16002000" cy="3810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1991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Carimbo de tempo criptográfico encadeado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0436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1992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0436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Árvores de Merkle agrupam documentos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6572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2008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66572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White paper de Nakamoto: PoW e P2P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927081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2009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927081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Bloco gênese; início da rede Bitcoin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18844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2015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418844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Ethereum: a EVM executa código arbitrário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928116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Fonte: Haber e Stornetta (1991); Nakamoto (2008); Tripathi, Ahad e Casalino (2023).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 · CONSENSO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Dois mecanismos, dois conjuntos de trade-offs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810232"/>
            <a:ext cx="16002000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0" y="2825472"/>
            <a:ext cx="6286500" cy="143256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0" y="3092172"/>
            <a:ext cx="624459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67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Proof-of-Work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876800" y="3694152"/>
            <a:ext cx="6244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BITCOIN, 2009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858500" y="2825472"/>
            <a:ext cx="6286500" cy="143256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63300" y="3092172"/>
            <a:ext cx="624459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67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Proof-of-Stake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163300" y="3694152"/>
            <a:ext cx="6244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D2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ETHEREUM, 2015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22577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454378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CRITÉRIO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522577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6800" y="454378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Poder computacional gasto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858500" y="522577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63300" y="454378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Ativos bloqueados (stake)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43000" y="620875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552676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ENERGIA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0" y="620875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6800" y="552676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Comparável ao de países inteiros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858500" y="620875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63300" y="552676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Ordens de magnitude menor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43000" y="719173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3000" y="650974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GARANTIA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0" y="719173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6800" y="650974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Inviável refazer o trabalho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858500" y="719173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63300" y="650974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Slashing do validador desonesto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817471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749272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CRÍTICA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0" y="817471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6800" y="749272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Sustentabilidade ambiental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858500" y="817471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63300" y="749272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Concentração de validadores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· SMART CONTRACTS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acordo escrito nas linhas do código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505432"/>
            <a:ext cx="1471612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9348"/>
              </a:lnSpc>
              <a:buNone/>
            </a:pPr>
            <a:r>
              <a:rPr lang="en-US" sz="25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Termos embutidos no código; execução sem intermediários nem sistema de justiça. Como uma máquina de venda automática: não se confia no vendedor, a máquina cumpre.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859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Criação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59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Negociação e codificação dos termos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197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626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5626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626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partir daqui o código é imutável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393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393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Execução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393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Disparo automático ao cumprir as condições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3731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160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Finalização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7160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Liquidação e atualização do estado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52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972050"/>
            <a:ext cx="1760220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721"/>
              </a:lnSpc>
              <a:buNone/>
            </a:pPr>
            <a:r>
              <a:rPr lang="en-US" sz="225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143000" y="7734300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 barreiras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910590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DCE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Cinco eixos sistematizados a partir da literatura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8801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· SISTEMATIZAÇÃO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824103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Cinco eixos de barreiras à adoção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357324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759160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19300" y="3772019"/>
            <a:ext cx="5699891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Técnicas e de escalabilidade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143000" y="4587716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4989552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019300" y="5002411"/>
            <a:ext cx="52941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e imutabilidade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143000" y="5818227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6220063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019300" y="6232922"/>
            <a:ext cx="4158651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Legais e regulatórias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143000" y="7048738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7450574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019300" y="7463433"/>
            <a:ext cx="7323904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Socioeconômicas e de infraestrutura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09760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3000" y="8279249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8681085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019300" y="8693944"/>
            <a:ext cx="2449509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0763250" y="2476500"/>
            <a:ext cx="5570220" cy="5570220"/>
          </a:xfrm>
          <a:prstGeom prst="ellipse">
            <a:avLst/>
          </a:prstGeom>
          <a:ln w="22860">
            <a:solidFill>
              <a:srgbClr val="B9C4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382500" y="4095750"/>
            <a:ext cx="2286000" cy="2286000"/>
          </a:xfrm>
          <a:prstGeom prst="ellipse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636937" y="4819650"/>
            <a:ext cx="185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Barreiras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658249" y="5238750"/>
            <a:ext cx="1810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adoção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2520137" y="2156460"/>
            <a:ext cx="2010728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767787" y="2327910"/>
            <a:ext cx="1591628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Técnicas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031700" y="4061460"/>
            <a:ext cx="2245400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279350" y="4232910"/>
            <a:ext cx="1826300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Segurança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4287559" y="7157085"/>
            <a:ext cx="1714381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535209" y="7328535"/>
            <a:ext cx="1295281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Legais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327363" y="7157085"/>
            <a:ext cx="3157776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75013" y="7328535"/>
            <a:ext cx="2757209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Socioeconômicas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682282" y="4061460"/>
            <a:ext cx="2428637" cy="640080"/>
          </a:xfrm>
          <a:prstGeom prst="roundRect">
            <a:avLst>
              <a:gd name="adj" fmla="val 50000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29932" y="4232910"/>
            <a:ext cx="2009537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2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</a:t>
            </a:r>
            <a:r>
              <a:rPr lang="en-US" sz="2100" b="1" dirty="0">
                <a:solidFill>
                  <a:srgbClr val="10243A"/>
                </a:solidFill>
                <a:highlight>
                  <a:srgbClr val="EF7F1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Técnicas e de escalabilidade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353032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TRIPATHI; AHAD; CASALINO (2023) · YAGA et al. (2018)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6865620"/>
            <a:ext cx="502920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7170420"/>
            <a:ext cx="5180076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17"/>
              </a:lnSpc>
              <a:buNone/>
            </a:pPr>
            <a:r>
              <a:rPr lang="en-US" sz="33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Baixa escalabilidade e latência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8324850"/>
            <a:ext cx="51800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Mineração e tamanho da rede limitam o throughput.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629400" y="6865620"/>
            <a:ext cx="502920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7170420"/>
            <a:ext cx="5180076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17"/>
              </a:lnSpc>
              <a:buNone/>
            </a:pPr>
            <a:r>
              <a:rPr lang="en-US" sz="33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Alto consumo de energia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629400" y="8324850"/>
            <a:ext cx="51800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PoW exige poder massivo, incompatível com metas de sustentabilidade.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115800" y="6865620"/>
            <a:ext cx="502920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115800" y="7170420"/>
            <a:ext cx="5532120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417"/>
              </a:lnSpc>
              <a:buNone/>
            </a:pPr>
            <a:r>
              <a:rPr lang="en-US" sz="33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Consultas ineficientes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115800" y="7842885"/>
            <a:ext cx="51800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tabelas relacionais, o histórico exige varrer bloco por bloco.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e imutabilidade: a faca de dois gumes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429232"/>
            <a:ext cx="17602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Depois do deploy, uma vulnerabilidade descoberta é permanente.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5604510"/>
            <a:ext cx="846582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912"/>
              </a:lnSpc>
              <a:buNone/>
            </a:pPr>
            <a:r>
              <a:rPr lang="en-US" sz="112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US$ 60 mi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143000" y="7185660"/>
            <a:ext cx="79270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roubados no ataque de reentrância ao The DAO, em 2016 (SIFRA, 2022).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448800" y="5604510"/>
            <a:ext cx="2667000" cy="2667000"/>
          </a:xfrm>
          <a:prstGeom prst="ellipse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877425" y="6033135"/>
            <a:ext cx="1809750" cy="1809750"/>
          </a:xfrm>
          <a:prstGeom prst="ellipse">
            <a:avLst/>
          </a:prstGeom>
          <a:solidFill>
            <a:srgbClr val="0D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39325" y="6033135"/>
            <a:ext cx="188595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42,2%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12496800" y="6137910"/>
            <a:ext cx="478764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dos contratos de uma amostra massiva tinham comportamentos anômalos (YANAI; NISHIDA; UNAGAMI, 2025).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8804910"/>
            <a:ext cx="16002000" cy="15240"/>
          </a:xfrm>
          <a:prstGeom prst="rect">
            <a:avLst/>
          </a:prstGeom>
          <a:solidFill>
            <a:srgbClr val="2B43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9124950"/>
            <a:ext cx="164820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MITIGAÇÃO </a:t>
            </a: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Proxy ERC-1967 atualiza a lógica, mas reintroduz um ponto central de controle.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Legais e regulatórias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657832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PROBLEMA DO ORÁCULO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3229332"/>
            <a:ext cx="4592241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1140" y="3549372"/>
            <a:ext cx="426355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Fato do mundo real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1140" y="4063722"/>
            <a:ext cx="42635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243A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ex.: o TCC foi entregue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01941" y="3593187"/>
            <a:ext cx="6858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878241" y="3107412"/>
            <a:ext cx="4561880" cy="1672590"/>
          </a:xfrm>
          <a:prstGeom prst="roundRect">
            <a:avLst>
              <a:gd name="adj" fmla="val 6834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1141" y="3412212"/>
            <a:ext cx="4263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Oráculo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21141" y="3926562"/>
            <a:ext cx="399236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243A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intermediário externo: o ponto de confiança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706820" y="3593187"/>
            <a:ext cx="6858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2583120" y="3244572"/>
            <a:ext cx="4561880" cy="1398270"/>
          </a:xfrm>
          <a:prstGeom prst="roundRect">
            <a:avLst>
              <a:gd name="adj" fmla="val 8174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26020" y="3549372"/>
            <a:ext cx="4263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 contract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926020" y="4063722"/>
            <a:ext cx="426368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executa sem questionar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7227570"/>
            <a:ext cx="5130761" cy="178689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47800" y="7532370"/>
            <a:ext cx="497327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612"/>
              </a:lnSpc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Vazio regulatório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447800" y="8041005"/>
            <a:ext cx="465679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consenso global sobre o peso legal de contratos autoexecutáveis.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578561" y="7227570"/>
            <a:ext cx="5130761" cy="178689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83361" y="7532370"/>
            <a:ext cx="497327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612"/>
              </a:lnSpc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Código binário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883361" y="8041005"/>
            <a:ext cx="465679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lei admite interpretação; o código ignora o contexto.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014121" y="7227570"/>
            <a:ext cx="5130761" cy="178689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18921" y="7532370"/>
            <a:ext cx="497327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612"/>
              </a:lnSpc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Evasão de salvaguardas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318921" y="8041005"/>
            <a:ext cx="465679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Fraude ou coerção anulam um contrato tradicional; este executa mesmo assim.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43000" y="928116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Fonte: Ishmaev (2025); Alharby e Van Moorsel (2017).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Socioeconômicas e de infraestrutura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353032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ABUHASHIM; TAN (2020) · SINGH; RANI; KUMAR (2024) · NARAYANAPRAKASH et al. (2023)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Custos imprevisíveis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5103852"/>
            <a:ext cx="382619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gas varia com o design do contrato e o congestionamento.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3875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3875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Escassez de especialistas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38750" y="5103852"/>
            <a:ext cx="382619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Poucos dominam segurança de contratos, o que afasta organizações.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3450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3450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3450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Resistência de intermediários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34500" y="5103852"/>
            <a:ext cx="3826193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Notários e corretores têm na burocracia o próprio trabalho.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43025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43025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43025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Infraestrutura digital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430250" y="5103852"/>
            <a:ext cx="382619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 países em desenvolvimento, rede e dispositivos ainda limitam.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Governança: a centralização de autoridade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657832"/>
            <a:ext cx="7810500" cy="374142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24000" y="3038832"/>
            <a:ext cx="7753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OWNABLE · UMA CHAVE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24000" y="3602712"/>
            <a:ext cx="1428750" cy="1428750"/>
          </a:xfrm>
          <a:prstGeom prst="ellipse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55445" y="4002762"/>
            <a:ext cx="1242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610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Carteira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88438" y="4317087"/>
            <a:ext cx="97607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610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owner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219450" y="4012287"/>
            <a:ext cx="6096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4019550" y="3654147"/>
            <a:ext cx="2796540" cy="586740"/>
          </a:xfrm>
          <a:prstGeom prst="roundRect">
            <a:avLst>
              <a:gd name="adj" fmla="val 12987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9100" y="3787497"/>
            <a:ext cx="24613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cadastrarAluno()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019550" y="4393287"/>
            <a:ext cx="2796540" cy="586740"/>
          </a:xfrm>
          <a:prstGeom prst="roundRect">
            <a:avLst>
              <a:gd name="adj" fmla="val 12987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29100" y="4526637"/>
            <a:ext cx="24613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aprovarTCC()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24000" y="5298162"/>
            <a:ext cx="725995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Ponto único de falha; chave perdida deixa o contrato inoperante.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34500" y="2657832"/>
            <a:ext cx="7810500" cy="374142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15500" y="3038832"/>
            <a:ext cx="7753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MULTI-SIG · 3 DE 5 SIGNATÁRIOS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15500" y="3821787"/>
            <a:ext cx="990600" cy="990600"/>
          </a:xfrm>
          <a:prstGeom prst="ellipse">
            <a:avLst/>
          </a:prstGeom>
          <a:solidFill>
            <a:srgbClr val="EF7F1F"/>
          </a:solidFill>
          <a:ln w="381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15500" y="385988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0896600" y="3821787"/>
            <a:ext cx="990600" cy="990600"/>
          </a:xfrm>
          <a:prstGeom prst="ellipse">
            <a:avLst/>
          </a:prstGeom>
          <a:solidFill>
            <a:srgbClr val="EF7F1F"/>
          </a:solidFill>
          <a:ln w="381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896600" y="385988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2077700" y="3821787"/>
            <a:ext cx="990600" cy="990600"/>
          </a:xfrm>
          <a:prstGeom prst="ellipse">
            <a:avLst/>
          </a:prstGeom>
          <a:solidFill>
            <a:srgbClr val="EF7F1F"/>
          </a:solidFill>
          <a:ln w="381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77700" y="385988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3258800" y="3821787"/>
            <a:ext cx="990600" cy="990600"/>
          </a:xfrm>
          <a:prstGeom prst="ellipse">
            <a:avLst/>
          </a:prstGeom>
          <a:ln w="381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439900" y="3821787"/>
            <a:ext cx="990600" cy="990600"/>
          </a:xfrm>
          <a:prstGeom prst="ellipse">
            <a:avLst/>
          </a:prstGeom>
          <a:ln w="381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15500" y="5298162"/>
            <a:ext cx="725995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uma banca de professores. Custo: mais complexidade e mais taxas.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8572500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3000" y="880110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Poder absoluto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143000" y="9250680"/>
            <a:ext cx="5532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Ninguém audita um administrador de má-fé.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629400" y="8572500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880110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Perda irreversível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629400" y="9250680"/>
            <a:ext cx="5532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Chave perdida, contrato perdido.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115800" y="8572500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115800" y="880110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votação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12115800" y="9250680"/>
            <a:ext cx="5532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banca colegiada nem recursos.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7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9555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HIPÓTESE TRANSVERSAL DO AUTOR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196590"/>
            <a:ext cx="15304770" cy="2929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200"/>
              </a:lnSpc>
              <a:buNone/>
            </a:pPr>
            <a:r>
              <a:rPr lang="en-US" sz="6900" b="1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obstáculo atravessa os cinco eixos: o medo de experimentar o novo.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6621780"/>
            <a:ext cx="13735050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48"/>
              </a:lnSpc>
              <a:buNone/>
            </a:pPr>
            <a:r>
              <a:rPr lang="en-US" sz="2550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Gestores que mantêm sistemas legados, usuários cautelosos com algoritmos, profissionais afetados pela automação. A maior barreira pode ser mais cultural e organizacional que tecnológica.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52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972050"/>
            <a:ext cx="1760220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721"/>
              </a:lnSpc>
              <a:buNone/>
            </a:pPr>
            <a:r>
              <a:rPr lang="en-US" sz="225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143000" y="7734300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protótipo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910590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DCE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contrato em Solidity para o fluxo de TCC, usado como laboratório das barreiras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METODOLOGIA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Duas frentes que se alimentam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734032"/>
            <a:ext cx="7810500" cy="6790968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62100" y="3153132"/>
            <a:ext cx="76695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Revisão sistemática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62100" y="3877032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Bases: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IEEE Xplore, ACM DL, SpringerLink, arXiv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62100" y="4467582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Recorte: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2017–2026, revisado por pares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62100" y="5058133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Triagem: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funil em três fases (PRISMA 2020)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62100" y="5648683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Síntese: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matriz por camada, consenso e aplicação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0" y="2734032"/>
            <a:ext cx="7810500" cy="6790968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53600" y="3153132"/>
            <a:ext cx="76695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Pesquisa experimental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53600" y="3877032"/>
            <a:ext cx="71814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Contrato: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Solidity 0.8.28, OpenZeppelin 5.x (ERC-721, Ownable)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600" y="4867632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Ambiente: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Hardhat, rede EVM local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753600" y="5458183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Coleta: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testes aprovados; gas dos recibos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53600" y="6048733"/>
            <a:ext cx="71814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Conversão: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gas a 0,09 e 5 gwei × Ether em 07/09/2026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3.2 · FLUXO MODELADO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matrícula ao certificado em NFT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429232"/>
            <a:ext cx="17602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PDF nunca vai para a rede: registra-se só o hash SHA-256.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6204585"/>
            <a:ext cx="3829050" cy="5334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ORIENTADOR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590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Cadastro do aluno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8590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cadastrarAluno()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8590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Restrita ao papel administrativo.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20065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00650" y="6204585"/>
            <a:ext cx="3829050" cy="5334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4355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ALUNO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4355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Submissão do hash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4355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submeterTCC()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54355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SHA-256 do PDF, enviado uma única vez.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5830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58300" y="6204585"/>
            <a:ext cx="3829050" cy="5334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ORIENTADOR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Aprovação ou rejeição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0120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aprovarTCC()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60120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validação semântica segue humana.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31595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315950" y="6204585"/>
            <a:ext cx="3829050" cy="533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65885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CONTRATO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65885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Certificado em NFT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365885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_safeMint()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65885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Emissão automática do ERC-721.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0058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A · TCCDelivery.sol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501140"/>
            <a:ext cx="9144000" cy="7789545"/>
          </a:xfrm>
          <a:prstGeom prst="roundRect">
            <a:avLst>
              <a:gd name="adj" fmla="val 1467"/>
            </a:avLst>
          </a:prstGeom>
          <a:solidFill>
            <a:srgbClr val="0818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24000" y="1882140"/>
            <a:ext cx="8656320" cy="7065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contract TCCDelivery is ERC721, Ownable {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mapping(address =&gt; Aluno) public alunos;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function cadastrarAluno(...)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external 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onlyOwner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 … }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function submeterTCC(string hashTCC) external {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require(a.podeSubmeter);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require(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!a.submetido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a.hashTCC = hashTCC;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function aprovarTCC(address aluno)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external 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onlyOwner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_safeMint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(aluno, a.tokenId);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49000" y="2946083"/>
            <a:ext cx="62788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33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Três linhas que contêm as barreiras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049000" y="4287203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onlyOwner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49000" y="4729163"/>
            <a:ext cx="67056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Todo o poder em uma carteira: governança.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049000" y="5508307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require(!a.submetido)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049000" y="5950268"/>
            <a:ext cx="67056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Rigidez binária diante de recursos e prorrogações.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049000" y="6729413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_safeMint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049000" y="7171373"/>
            <a:ext cx="67056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Certificado verificável sem depender do emissor.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 · CUSTOS OPERACIONAIS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Gas medido e custo por operação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084552"/>
            <a:ext cx="2650331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657832"/>
            <a:ext cx="272984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OPERAÇÃO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793331" y="3084552"/>
            <a:ext cx="1656517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17131" y="2657832"/>
            <a:ext cx="17327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49848" y="3084552"/>
            <a:ext cx="1656517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73648" y="2657832"/>
            <a:ext cx="17327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0,09 GWEI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106364" y="3084552"/>
            <a:ext cx="1656636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30164" y="2657832"/>
            <a:ext cx="17328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GWEI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3000" y="377035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329029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793331" y="377035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17131" y="329029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1.656.424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49848" y="377035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73648" y="329029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R$ 1,92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106364" y="377035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30164" y="329029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R$ 106,65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44853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96847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cadastrarAluno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793331" y="444853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17131" y="396847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77.103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449848" y="444853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73648" y="396847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R$ 0,09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106364" y="444853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30164" y="396847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R$ 4,96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" y="512671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464665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submeterTCC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3793331" y="512671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17131" y="464665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116.797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449848" y="512671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73648" y="464665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R$ 0,14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106364" y="512671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30164" y="464665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R$ 7,52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143000" y="5804893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43000" y="5324833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aprovarTCC + mint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3793331" y="5804893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17131" y="5324833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107.643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449848" y="5804893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73648" y="5324833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R$ 0,12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7106364" y="5804893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30164" y="5324833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R$ 6,93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143000" y="648307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43000" y="600301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rejeitarTCC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3793331" y="648307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717131" y="600301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27.626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5449848" y="648307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73648" y="600301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R$ 0,03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7106364" y="648307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30164" y="600301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R$ 1,78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143000" y="6490692"/>
            <a:ext cx="2650331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43000" y="6681192"/>
            <a:ext cx="2729841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Fluxo completo / aluno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3793331" y="6490692"/>
            <a:ext cx="1656517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17131" y="6681192"/>
            <a:ext cx="1732717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301.543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5449848" y="6490692"/>
            <a:ext cx="1656517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73648" y="6681192"/>
            <a:ext cx="1732717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R$ 0,35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7106364" y="6490692"/>
            <a:ext cx="1656636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30164" y="6681192"/>
            <a:ext cx="1732836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R$ 19,41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9525000" y="2657832"/>
            <a:ext cx="8382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FLUXO COMPLETO POR ALUNO (R$)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525000" y="6765012"/>
            <a:ext cx="7620000" cy="2286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984106" y="6220183"/>
            <a:ext cx="13997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R$ 0,35</a:t>
            </a:r>
            <a:endParaRPr lang="en-US" sz="2700" dirty="0"/>
          </a:p>
        </p:txBody>
      </p:sp>
      <p:sp>
        <p:nvSpPr>
          <p:cNvPr id="63" name="Shape 61"/>
          <p:cNvSpPr/>
          <p:nvPr/>
        </p:nvSpPr>
        <p:spPr>
          <a:xfrm>
            <a:off x="9906000" y="6688812"/>
            <a:ext cx="1428750" cy="762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2096750" y="3438882"/>
            <a:ext cx="16359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R$ 19,41</a:t>
            </a:r>
            <a:endParaRPr lang="en-US" sz="2700" dirty="0"/>
          </a:p>
        </p:txBody>
      </p:sp>
      <p:sp>
        <p:nvSpPr>
          <p:cNvPr id="65" name="Shape 63"/>
          <p:cNvSpPr/>
          <p:nvPr/>
        </p:nvSpPr>
        <p:spPr>
          <a:xfrm>
            <a:off x="12125920" y="3907512"/>
            <a:ext cx="1428750" cy="28575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4536460" y="4288512"/>
            <a:ext cx="240674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×55</a:t>
            </a:r>
            <a:endParaRPr lang="en-US" sz="9000" dirty="0"/>
          </a:p>
        </p:txBody>
      </p:sp>
      <p:sp>
        <p:nvSpPr>
          <p:cNvPr id="67" name="Text 65"/>
          <p:cNvSpPr/>
          <p:nvPr/>
        </p:nvSpPr>
        <p:spPr>
          <a:xfrm>
            <a:off x="9834563" y="6902172"/>
            <a:ext cx="15716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0,09 gwei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2025313" y="6902172"/>
            <a:ext cx="15716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gwei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525000" y="7542252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barreira é a imprevisibilidade, não o valor unitário: o orçamento fica exposto ao gas e ao Ether.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1143000" y="928116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local Hardhat · 1 ETH = R$ 12.876,63 em 07/09/2026 (CoinMarketCap; Etherscan)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4.2–4.4 · CENÁRIOS DE BARREIRA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que o laboratório tornou visível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734032"/>
            <a:ext cx="5079921" cy="6790968"/>
          </a:xfrm>
          <a:prstGeom prst="roundRect">
            <a:avLst>
              <a:gd name="adj" fmla="val 2250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62100" y="3153132"/>
            <a:ext cx="43689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 do Oráculo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562100" y="4296132"/>
            <a:ext cx="2907030" cy="548640"/>
          </a:xfrm>
          <a:prstGeom prst="roundRect">
            <a:avLst>
              <a:gd name="adj" fmla="val 13889"/>
            </a:avLst>
          </a:prstGeom>
          <a:solidFill>
            <a:srgbClr val="0D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52600" y="4410432"/>
            <a:ext cx="26132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arquivo em branco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52600" y="4940022"/>
            <a:ext cx="15542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 SHA-256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62100" y="5347692"/>
            <a:ext cx="3538299" cy="563880"/>
          </a:xfrm>
          <a:prstGeom prst="roundRect">
            <a:avLst>
              <a:gd name="adj" fmla="val 13514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52600" y="5461992"/>
            <a:ext cx="326344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TCCSubmetido ✓ aceito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7871460"/>
            <a:ext cx="4368972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Garante integridade e anterioridade, não legitimidade.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603921" y="2734032"/>
            <a:ext cx="5080040" cy="6790968"/>
          </a:xfrm>
          <a:prstGeom prst="roundRect">
            <a:avLst>
              <a:gd name="adj" fmla="val 2250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23021" y="3153132"/>
            <a:ext cx="46660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7023021" y="3838932"/>
            <a:ext cx="436909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 não autorizada teve aprovarTCC revertida (OwnableUnauthorizedAccount).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023021" y="7871460"/>
            <a:ext cx="436909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Chave perdida: reimplantar (+1.656.424 gas) e migrar o estado à mão.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064960" y="2734032"/>
            <a:ext cx="5080040" cy="6790968"/>
          </a:xfrm>
          <a:prstGeom prst="roundRect">
            <a:avLst>
              <a:gd name="adj" fmla="val 2250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484060" y="3153132"/>
            <a:ext cx="46660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camada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484060" y="3838932"/>
            <a:ext cx="436909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Aplicação: </a:t>
            </a: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oráculo, acesso centralizado, armazenamento caro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484060" y="5229583"/>
            <a:ext cx="466602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Consenso: </a:t>
            </a: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 sensível ao gas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84060" y="5820133"/>
            <a:ext cx="43690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Rede: </a:t>
            </a: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latência não medida em ambiente local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· CONCLUSÕES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questão de pesquisa, respondida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734032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375541"/>
            <a:ext cx="121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0" y="3407926"/>
            <a:ext cx="1483385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 limitações da arquitetura criam barreiras concretas: custo sensível ao gas, documentos sem validação de legitimidade, governança presa a uma chave.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4992529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5634157"/>
            <a:ext cx="121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743200" y="5666542"/>
            <a:ext cx="1483385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tecnologia funciona e custa pouco em condições normais. O desafio é acomodar imutabilidade a processos que exigem exceção, recurso e julgamento.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9509760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7251145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7892772"/>
            <a:ext cx="121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2743200" y="7925158"/>
            <a:ext cx="1483385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hipótese se reforça: a maior barreira é cultural e organizacional. Protótipos de baixo risco ajudam na transição gradual de confiança.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62865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LIMITAÇÕES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5886450" cy="135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310"/>
              </a:lnSpc>
              <a:buNone/>
            </a:pPr>
            <a:r>
              <a:rPr lang="en-US" sz="48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alcance deste estudo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74933"/>
            <a:ext cx="5715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518773"/>
            <a:ext cx="58864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local, sem latência de rede pública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4196953"/>
            <a:ext cx="5715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4440793"/>
            <a:ext cx="58864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Controle de acesso simples (Ownable)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118973"/>
            <a:ext cx="5715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5362813"/>
            <a:ext cx="58864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Cotações pontuais de um mercado volátil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10500" y="952500"/>
            <a:ext cx="10267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TRABALHOS FUTUROS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810500" y="1882140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10500" y="2133600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35340" y="2087880"/>
            <a:ext cx="595750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Sepolia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435340" y="2541270"/>
            <a:ext cx="595750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pública de testes: latência e custos reais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10500" y="3407569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10500" y="3659029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35340" y="3613309"/>
            <a:ext cx="697395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Multi-Sig ou DAO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8435340" y="4066699"/>
            <a:ext cx="697395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de professores e sobrecusto de governança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810500" y="4933117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0500" y="5184577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35340" y="5138857"/>
            <a:ext cx="432354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Proxy ERC-1967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435340" y="5592246"/>
            <a:ext cx="432354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Atualizabilidade versus confiança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810500" y="6458664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0500" y="6710125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35340" y="6664404"/>
            <a:ext cx="594152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Interface dApp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8435340" y="7117795"/>
            <a:ext cx="594152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Uso sem conhecimento técnico de blockchain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810500" y="9509760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10500" y="7984212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10500" y="8235672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435340" y="8189952"/>
            <a:ext cx="635368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Extensão universitária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8435340" y="8643342"/>
            <a:ext cx="635368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Certificado disparado pela validação de presença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91590"/>
            <a:ext cx="591441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IMESA/FEMA · ASSIS/SP · 2026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3928408" y="952500"/>
            <a:ext cx="3216593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108" y="1066800"/>
            <a:ext cx="2683193" cy="800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069080"/>
            <a:ext cx="17602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575"/>
              </a:lnSpc>
              <a:buNone/>
            </a:pPr>
            <a:r>
              <a:rPr lang="en-US" sz="15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Obrigado.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1143000" y="6278880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FA6B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disposição da banca para perguntas.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143000" y="8823960"/>
            <a:ext cx="2811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9197340"/>
            <a:ext cx="26324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Arthur Naoto Miura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841796" y="8823960"/>
            <a:ext cx="524123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ORIENTAÇÃO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41796" y="9197340"/>
            <a:ext cx="4907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Me. Claudinei Moreira da Silva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3316</Words>
  <Application>Microsoft Office PowerPoint</Application>
  <PresentationFormat>Custom</PresentationFormat>
  <Paragraphs>429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Archivo</vt:lpstr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Arthur Naoto Miura</cp:lastModifiedBy>
  <cp:revision>4</cp:revision>
  <dcterms:created xsi:type="dcterms:W3CDTF">2026-10-12T00:56:21Z</dcterms:created>
  <dcterms:modified xsi:type="dcterms:W3CDTF">2026-10-19T21:42:04Z</dcterms:modified>
</cp:coreProperties>
</file>